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1097280"/>
            <a:ext cx="4572000" cy="3657600"/>
          </a:xfrm>
          <a:prstGeom prst="roundRect">
            <a:avLst/>
          </a:prstGeom>
          <a:solidFill>
            <a:srgbClr val="0F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45-DAY BOOTCAMP · DAY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E8EDF4"/>
                </a:solidFill>
                <a:latin typeface="Segoe UI"/>
              </a:rPr>
              <a:t>Become a </a:t>
            </a:r>
            <a:r>
              <a:rPr sz="5400" b="1" i="0">
                <a:solidFill>
                  <a:srgbClr val="00D4C8"/>
                </a:solidFill>
                <a:latin typeface="Segoe UI"/>
              </a:rPr>
              <a:t>Generative 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E8EDF4"/>
                </a:solidFill>
                <a:latin typeface="Segoe UI"/>
              </a:rPr>
              <a:t>Engineer.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8A97A8"/>
                </a:solidFill>
                <a:latin typeface="Segoe UI"/>
              </a:rPr>
              <a:t>From Python fundamentals to production-grade RAG, agents, fine-tuning, evaluation, security and LLMOps — built one day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49240"/>
            <a:ext cx="1175004" cy="45720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00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1750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0D4C8"/>
                </a:solidFill>
                <a:latin typeface="Consolas"/>
              </a:rPr>
              <a:t>12 Phases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2556" y="5349240"/>
            <a:ext cx="982980" cy="45720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00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2556" y="5349240"/>
            <a:ext cx="9829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0D4C8"/>
                </a:solidFill>
                <a:latin typeface="Consolas"/>
              </a:rPr>
              <a:t>45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5349240"/>
            <a:ext cx="2423160" cy="45720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00D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5349240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0D4C8"/>
                </a:solidFill>
                <a:latin typeface="Consolas"/>
              </a:rPr>
              <a:t>Build every single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01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761980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02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523961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Welcome to </a:t>
            </a:r>
            <a:r>
              <a:rPr sz="3800" b="1" i="0">
                <a:solidFill>
                  <a:srgbClr val="00D4C8"/>
                </a:solidFill>
                <a:latin typeface="Segoe UI"/>
              </a:rPr>
              <a:t>TARS Lab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057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8A97A8"/>
                </a:solidFill>
                <a:latin typeface="Segoe UI"/>
              </a:rPr>
              <a:t>We don't teach you to watch. We teach you to </a:t>
            </a:r>
            <a:r>
              <a:rPr sz="1600" b="1" i="0">
                <a:solidFill>
                  <a:srgbClr val="00D4C8"/>
                </a:solidFill>
                <a:latin typeface="Segoe UI"/>
              </a:rPr>
              <a:t>ship</a:t>
            </a:r>
            <a:r>
              <a:rPr sz="1600" b="0" i="0">
                <a:solidFill>
                  <a:srgbClr val="8A97A8"/>
                </a:solidFill>
                <a:latin typeface="Segoe UI"/>
              </a:rPr>
              <a:t>. Every day pairs a focused concept with a real build — by Day 45 you have a portfolio, not just notes.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00400"/>
            <a:ext cx="3383280" cy="23774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364992"/>
            <a:ext cx="298094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Outcome-first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Each day ends with something running on your machine.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200400"/>
            <a:ext cx="3383280" cy="23774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364992"/>
            <a:ext cx="298094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🧱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Foundations → Frontier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Python today; multi-agent systems &amp; LLMOps later.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200400"/>
            <a:ext cx="3383280" cy="23774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364992"/>
            <a:ext cx="2980944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🛠️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Industry tools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LangChain, LangGraph, RAG, AutoGen, MCP, Docker, K8s.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03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285942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WHY THIS, WHY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8EDF4"/>
                </a:solidFill>
                <a:latin typeface="Segoe UI"/>
              </a:rPr>
              <a:t>The most in-demand engineering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8EDF4"/>
                </a:solidFill>
                <a:latin typeface="Segoe UI"/>
              </a:rPr>
              <a:t>skill of the decade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8A97A8"/>
                </a:solidFill>
                <a:latin typeface="Segoe UI"/>
              </a:rPr>
              <a:t>Generative AI moved from research labs to every product team. Companies need engineers who take an LLM from a demo to a reliable, secure, monitored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0D4C8"/>
                </a:solidFill>
                <a:latin typeface="Segoe UI"/>
              </a:rPr>
              <a:t>RAG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A8"/>
                </a:solidFill>
                <a:latin typeface="Segoe UI"/>
              </a:rPr>
              <a:t>Knowledge-grounded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1148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0D4C8"/>
                </a:solidFill>
                <a:latin typeface="Segoe UI"/>
              </a:rPr>
              <a:t>Agents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A8"/>
                </a:solidFill>
                <a:latin typeface="Segoe UI"/>
              </a:rPr>
              <a:t>Tools, memory,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0D4C8"/>
                </a:solidFill>
                <a:latin typeface="Segoe UI"/>
              </a:rPr>
              <a:t>Eval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A8"/>
                </a:solidFill>
                <a:latin typeface="Segoe UI"/>
              </a:rPr>
              <a:t>Trust &amp; quality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11480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0D4C8"/>
                </a:solidFill>
                <a:latin typeface="Segoe UI"/>
              </a:rPr>
              <a:t>Ops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7A8"/>
                </a:solidFill>
                <a:latin typeface="Segoe UI"/>
              </a:rPr>
              <a:t>Deploy, scale, observe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04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047923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BY DAY 45 YOU 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What you'll be able to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Design and ship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hybrid RAG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systems with reranking and GraphRAG.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Build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autonomous agents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with LangGraph, CrewAI and AutoGen.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Fine-tune open models with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LoRA / QLoRA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on custom data.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Evaluate, guardrail and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secure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LLM apps for production.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Deploy with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FastAPI, Docker, Kubernetes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and full observability.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05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809904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THE 45-DAY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12 phases, one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73248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33172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P1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Foundations (Python)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33172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D1–3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873248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P2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How LLMs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D4–7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440176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98648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P3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Building LLM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898648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D8–11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440176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898648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P4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Advanced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98648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D12–16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007104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465576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P5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AI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65576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D17–21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007104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465576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P6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Multi-Agent (AutoGen)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465576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D22–25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574032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032504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P7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MCP &amp; Coding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032504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D26–29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574032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032504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P8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Fine-Tuning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032504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D30–32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140960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599432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P9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599432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D33–35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140960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599432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P10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Security &amp; Guardrails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99432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D36–38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5707888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16636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P11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LLMOps &amp; Production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16636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D39–42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707888"/>
            <a:ext cx="5212080" cy="12700"/>
          </a:xfrm>
          <a:prstGeom prst="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16636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D4C8"/>
                </a:solidFill>
                <a:latin typeface="Consolas"/>
              </a:rPr>
              <a:t>P12   </a:t>
            </a:r>
            <a:r>
              <a:rPr sz="1400" b="1" i="0">
                <a:solidFill>
                  <a:srgbClr val="E8EDF4"/>
                </a:solidFill>
                <a:latin typeface="Segoe UI"/>
              </a:rPr>
              <a:t>Capstone &amp; Career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166360"/>
            <a:ext cx="5212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7A8"/>
                </a:solidFill>
                <a:latin typeface="Consolas"/>
              </a:rPr>
              <a:t>D43–45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06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4571885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THE RHYTHM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How every day 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468880"/>
            <a:ext cx="3383280" cy="219456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633472"/>
            <a:ext cx="298094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📖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1 · Learn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A tight concept block — theory + intuition, no fluff.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468880"/>
            <a:ext cx="3383280" cy="219456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633472"/>
            <a:ext cx="298094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⌨️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2 · Code along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A guided notebook you run line by line with 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468880"/>
            <a:ext cx="3383280" cy="219456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2633472"/>
            <a:ext cx="298094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3 · Build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A daily challenge you finish on your 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8A97A8"/>
                </a:solidFill>
                <a:latin typeface="Segoe UI"/>
              </a:rPr>
              <a:t>Today's notebook:  </a:t>
            </a:r>
            <a:r>
              <a:rPr sz="1600" b="1" i="0">
                <a:solidFill>
                  <a:srgbClr val="00D4C8"/>
                </a:solidFill>
                <a:latin typeface="Consolas"/>
              </a:rPr>
              <a:t>Day01_Python_Core_and_Environments.ipynb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07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333866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PHASE 1 · 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0" b="1" i="0">
                <a:solidFill>
                  <a:srgbClr val="00D4C8"/>
                </a:solidFill>
                <a:latin typeface="Segoe UI"/>
              </a:rPr>
              <a:t>Day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8EDF4"/>
                </a:solidFill>
                <a:latin typeface="Segoe UI"/>
              </a:rPr>
              <a:t>Python Core &amp; Environments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8A97A8"/>
                </a:solidFill>
                <a:latin typeface="Segoe UI"/>
              </a:rPr>
              <a:t>The language every GenAI tool speaks — and the workspace you'll live in for 45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08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6095847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TODAY'S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What we cover in Day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468880"/>
            <a:ext cx="5212080" cy="1691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633472"/>
            <a:ext cx="480974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⚙️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Environments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VS Code · Conda · UV · virtual environments.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468880"/>
            <a:ext cx="5212080" cy="1691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633472"/>
            <a:ext cx="480974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🔤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Language core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Syntax, variables, datatypes, operators.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5212080" cy="1691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599432"/>
            <a:ext cx="480974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Control flow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Conditionals &amp; loops.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434840"/>
            <a:ext cx="5212080" cy="1691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599432"/>
            <a:ext cx="4809744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Data structures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Lists, comprehensions, tuples, sets, dicts.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09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6857828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Why Python for GenAI?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It's the lingua franca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— PyTorch, Transformers, LangChain, every SDK is Python-first.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Readable &amp; fast to prototype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— idea to running code in minutes.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Massive ecosystem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— data, ML, web, deployment, all in one language.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900" b="1" i="0">
                <a:solidFill>
                  <a:srgbClr val="00D4C8"/>
                </a:solidFill>
                <a:latin typeface="Segoe UI"/>
              </a:rPr>
              <a:t>Glue for everything</a:t>
            </a:r>
            <a:r>
              <a:rPr sz="1900" b="0" i="0">
                <a:solidFill>
                  <a:srgbClr val="E8EDF4"/>
                </a:solidFill>
                <a:latin typeface="Segoe UI"/>
              </a:rPr>
              <a:t> — call APIs, orchestrate agents, serve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10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619809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8EDF4"/>
                </a:solidFill>
                <a:latin typeface="Segoe UI"/>
              </a:rPr>
              <a:t>Your workspace: VS Code · Conda · UV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377440"/>
            <a:ext cx="3383280" cy="2834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542032"/>
            <a:ext cx="2980944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VS Code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Editor + Python &amp; Jupyter extensions. Where you write and run everything.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377440"/>
            <a:ext cx="3383280" cy="2834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542032"/>
            <a:ext cx="2980944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🐍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Conda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Manages Python versions + heavyweight ML packages cleanly.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377440"/>
            <a:ext cx="3383280" cy="283464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2542032"/>
            <a:ext cx="2980944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8EDF4"/>
                </a:solidFill>
                <a:latin typeface="Segoe UI"/>
              </a:rPr>
              <a:t>⚡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UV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Ultra-fast package &amp; project manager — pip, but seconds not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11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8381790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4"/>
                </a:solidFill>
                <a:latin typeface="Segoe UI"/>
              </a:rPr>
              <a:t>Virtual environments — and why they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0574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97A8"/>
                </a:solidFill>
                <a:latin typeface="Segoe UI"/>
              </a:rPr>
              <a:t>Every project gets its own sandbox of dependencies, so versions never collide. Non-negotiable in AI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017520"/>
            <a:ext cx="10515600" cy="2743200"/>
          </a:xfrm>
          <a:prstGeom prst="roundRect">
            <a:avLst/>
          </a:prstGeom>
          <a:solidFill>
            <a:srgbClr val="060A10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200400"/>
            <a:ext cx="1000353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8A97A8"/>
                </a:solidFill>
                <a:latin typeface="Consolas"/>
              </a:rPr>
              <a:t># Conda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conda create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-n </a:t>
            </a:r>
            <a:r>
              <a:rPr sz="1350" b="0" i="0">
                <a:solidFill>
                  <a:srgbClr val="FFB02E"/>
                </a:solidFill>
                <a:latin typeface="Consolas"/>
              </a:rPr>
              <a:t>genai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python=3.11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-y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conda activate </a:t>
            </a:r>
            <a:r>
              <a:rPr sz="1350" b="0" i="0">
                <a:solidFill>
                  <a:srgbClr val="FFB02E"/>
                </a:solidFill>
                <a:latin typeface="Consolas"/>
              </a:rPr>
              <a:t>genai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8A97A8"/>
                </a:solidFill>
                <a:latin typeface="Consolas"/>
              </a:rPr>
              <a:t># UV (fast alternative)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uv venv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&amp;&amp;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source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.venv/bin/activate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uv pip install </a:t>
            </a:r>
            <a:r>
              <a:rPr sz="1350" b="0" i="0">
                <a:solidFill>
                  <a:srgbClr val="FFB02E"/>
                </a:solidFill>
                <a:latin typeface="Consolas"/>
              </a:rPr>
              <a:t>numpy pandas streamlit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12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3771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LANGUAGE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8EDF4"/>
                </a:solidFill>
                <a:latin typeface="Segoe UI"/>
              </a:rPr>
              <a:t>Variables, datatypes &amp; operators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286000"/>
            <a:ext cx="10515600" cy="2468880"/>
          </a:xfrm>
          <a:prstGeom prst="roundRect">
            <a:avLst/>
          </a:prstGeom>
          <a:solidFill>
            <a:srgbClr val="060A10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468880"/>
            <a:ext cx="100035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name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FFB02E"/>
                </a:solidFill>
                <a:latin typeface="Consolas"/>
              </a:rPr>
              <a:t>"TARS"</a:t>
            </a:r>
            <a:r>
              <a:rPr sz="1350" b="0" i="0">
                <a:solidFill>
                  <a:srgbClr val="8A97A8"/>
                </a:solidFill>
                <a:latin typeface="Consolas"/>
              </a:rPr>
              <a:t>          # str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days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45</a:t>
            </a:r>
            <a:r>
              <a:rPr sz="1350" b="0" i="0">
                <a:solidFill>
                  <a:srgbClr val="8A97A8"/>
                </a:solidFill>
                <a:latin typeface="Consolas"/>
              </a:rPr>
              <a:t>               # 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progress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2.2</a:t>
            </a:r>
            <a:r>
              <a:rPr sz="1350" b="0" i="0">
                <a:solidFill>
                  <a:srgbClr val="8A97A8"/>
                </a:solidFill>
                <a:latin typeface="Consolas"/>
              </a:rPr>
              <a:t>           # float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shipping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True</a:t>
            </a:r>
            <a:r>
              <a:rPr sz="1350" b="0" i="0">
                <a:solidFill>
                  <a:srgbClr val="8A97A8"/>
                </a:solidFill>
                <a:latin typeface="Consolas"/>
              </a:rPr>
              <a:t>          # bool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8A97A8"/>
                </a:solidFill>
                <a:latin typeface="Consolas"/>
              </a:rPr>
              <a:t># + - * / // % **   and/or/not   == != &lt; &gt;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done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(days ==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45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) and shipping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97A8"/>
                </a:solidFill>
                <a:latin typeface="Segoe UI"/>
              </a:rPr>
              <a:t>Dynamic typing, but types still matter — we add validation on Day 3 with Pydantic.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13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905752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CONTROL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E8EDF4"/>
                </a:solidFill>
                <a:latin typeface="Segoe UI"/>
              </a:rPr>
              <a:t>Conditionals &amp; loops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377440"/>
            <a:ext cx="10515600" cy="3200400"/>
          </a:xfrm>
          <a:prstGeom prst="roundRect">
            <a:avLst/>
          </a:prstGeom>
          <a:solidFill>
            <a:srgbClr val="060A10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560320"/>
            <a:ext cx="10003536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00D4C8"/>
                </a:solidFill>
                <a:latin typeface="Consolas"/>
              </a:rPr>
              <a:t>for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day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in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range(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1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,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46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00D4C8"/>
                </a:solidFill>
                <a:latin typeface="Consolas"/>
              </a:rPr>
              <a:t>    if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day &lt;=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3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        phase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FFB02E"/>
                </a:solidFill>
                <a:latin typeface="Consolas"/>
              </a:rPr>
              <a:t>"Foundations"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00D4C8"/>
                </a:solidFill>
                <a:latin typeface="Consolas"/>
              </a:rPr>
              <a:t>    elif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day &lt;=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7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        phase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FFB02E"/>
                </a:solidFill>
                <a:latin typeface="Consolas"/>
              </a:rPr>
              <a:t>"How LLMs Work"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00D4C8"/>
                </a:solidFill>
                <a:latin typeface="Consolas"/>
              </a:rPr>
              <a:t>    else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00D4C8"/>
                </a:solidFill>
                <a:latin typeface="Consolas"/>
              </a:rPr>
              <a:t>        continue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14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0667733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DATA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8EDF4"/>
                </a:solidFill>
                <a:latin typeface="Segoe UI"/>
              </a:rPr>
              <a:t>Lists · Tuples · Sets · Dicts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331720"/>
            <a:ext cx="2514600" cy="178308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496312"/>
            <a:ext cx="2148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E8EDF4"/>
                </a:solidFill>
                <a:latin typeface="Segoe UI"/>
              </a:rPr>
              <a:t>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List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Ordered, mutable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0D4C8"/>
                </a:solidFill>
                <a:latin typeface="Consolas"/>
              </a:rPr>
              <a:t>[1, 2, 3]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331720"/>
            <a:ext cx="2514600" cy="178308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496312"/>
            <a:ext cx="2148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E8EDF4"/>
                </a:solidFill>
                <a:latin typeface="Segoe UI"/>
              </a:rPr>
              <a:t>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Tuple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Ordered, fixed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0D4C8"/>
                </a:solidFill>
                <a:latin typeface="Consolas"/>
              </a:rPr>
              <a:t>(x, 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331720"/>
            <a:ext cx="2514600" cy="178308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96312"/>
            <a:ext cx="2148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E8EDF4"/>
                </a:solidFill>
                <a:latin typeface="Segoe UI"/>
              </a:rPr>
              <a:t>🎲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Set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Unique, unordered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0D4C8"/>
                </a:solidFill>
                <a:latin typeface="Consolas"/>
              </a:rPr>
              <a:t>{1, 2}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331720"/>
            <a:ext cx="2514600" cy="1783080"/>
          </a:xfrm>
          <a:prstGeom prst="roundRect">
            <a:avLst/>
          </a:prstGeom>
          <a:solidFill>
            <a:srgbClr val="0F1622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496312"/>
            <a:ext cx="21488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E8EDF4"/>
                </a:solidFill>
                <a:latin typeface="Segoe UI"/>
              </a:rPr>
              <a:t>🗂️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8EDF4"/>
                </a:solidFill>
                <a:latin typeface="Segoe UI"/>
              </a:rPr>
              <a:t>Dict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7A8"/>
                </a:solidFill>
                <a:latin typeface="Segoe UI"/>
              </a:rPr>
              <a:t>Key → value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0D4C8"/>
                </a:solidFill>
                <a:latin typeface="Consolas"/>
              </a:rPr>
              <a:t>{"k": 1}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480560"/>
            <a:ext cx="10515600" cy="1097280"/>
          </a:xfrm>
          <a:prstGeom prst="roundRect">
            <a:avLst/>
          </a:prstGeom>
          <a:solidFill>
            <a:srgbClr val="060A10"/>
          </a:solidFill>
          <a:ln w="12700">
            <a:solidFill>
              <a:srgbClr val="1D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663440"/>
            <a:ext cx="100035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E8EDF4"/>
                </a:solidFill>
                <a:latin typeface="Consolas"/>
              </a:rPr>
              <a:t>squares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[n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**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2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for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n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in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range(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10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)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if </a:t>
            </a:r>
            <a:r>
              <a:rPr sz="1350" b="0" i="0">
                <a:solidFill>
                  <a:srgbClr val="E8EDF4"/>
                </a:solidFill>
                <a:latin typeface="Consolas"/>
              </a:rPr>
              <a:t>n %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2 </a:t>
            </a:r>
            <a:r>
              <a:rPr sz="1350" b="0" i="0">
                <a:solidFill>
                  <a:srgbClr val="00D4C8"/>
                </a:solidFill>
                <a:latin typeface="Consolas"/>
              </a:rPr>
              <a:t>== </a:t>
            </a:r>
            <a:r>
              <a:rPr sz="1350" b="0" i="0">
                <a:solidFill>
                  <a:srgbClr val="6C8CFF"/>
                </a:solidFill>
                <a:latin typeface="Consolas"/>
              </a:rPr>
              <a:t>0</a:t>
            </a:r>
            <a:r>
              <a:rPr sz="1350" b="0" i="0">
                <a:solidFill>
                  <a:srgbClr val="8A97A8"/>
                </a:solidFill>
                <a:latin typeface="Consolas"/>
              </a:rPr>
              <a:t>]   # comprehension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15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1429714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🔨 TODAY'S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2801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8EDF4"/>
                </a:solidFill>
                <a:latin typeface="Segoe UI"/>
              </a:rPr>
              <a:t>Data-manipulation exercises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103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8A97A8"/>
                </a:solidFill>
                <a:latin typeface="Segoe UI"/>
              </a:rPr>
              <a:t>Open the notebook and work through it with us — then finish the challenge cells solo.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1752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800" b="0" i="0">
                <a:solidFill>
                  <a:srgbClr val="E8EDF4"/>
                </a:solidFill>
                <a:latin typeface="Segoe UI"/>
              </a:rPr>
              <a:t>Clean and transform a list of student records.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800" b="0" i="0">
                <a:solidFill>
                  <a:srgbClr val="E8EDF4"/>
                </a:solidFill>
                <a:latin typeface="Segoe UI"/>
              </a:rPr>
              <a:t>Use comprehensions to filter, map and aggregate.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800" b="0" i="0">
                <a:solidFill>
                  <a:srgbClr val="E8EDF4"/>
                </a:solidFill>
                <a:latin typeface="Segoe UI"/>
              </a:rPr>
              <a:t>De-duplicate with sets; index with dicts.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00D4C8"/>
                </a:solidFill>
                <a:latin typeface="Segoe UI"/>
              </a:rPr>
              <a:t>▹  </a:t>
            </a:r>
            <a:r>
              <a:rPr sz="1800" b="1" i="0">
                <a:solidFill>
                  <a:srgbClr val="FFB02E"/>
                </a:solidFill>
                <a:latin typeface="Segoe UI"/>
              </a:rPr>
              <a:t>Stretch: </a:t>
            </a:r>
            <a:r>
              <a:rPr sz="1800" b="0" i="0">
                <a:solidFill>
                  <a:srgbClr val="E8EDF4"/>
                </a:solidFill>
                <a:latin typeface="Segoe UI"/>
              </a:rPr>
              <a:t>compute per-phase day counts from the syllabus.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8116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3272" y="384048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116" y="489204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" y="489204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6" y="594360"/>
            <a:ext cx="77724" cy="77724"/>
          </a:xfrm>
          <a:prstGeom prst="roundRect">
            <a:avLst/>
          </a:prstGeom>
          <a:solidFill>
            <a:srgbClr val="1D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" y="594360"/>
            <a:ext cx="77724" cy="77724"/>
          </a:xfrm>
          <a:prstGeom prst="round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C8"/>
                </a:solidFill>
                <a:latin typeface="Segoe UI"/>
              </a:rPr>
              <a:t>TARS</a:t>
            </a:r>
            <a:r>
              <a:rPr sz="1200" b="1" i="0">
                <a:solidFill>
                  <a:srgbClr val="E8EDF4"/>
                </a:solidFill>
                <a:latin typeface="Segoe UI"/>
              </a:rPr>
              <a:t> LAB ACADEMY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7A8"/>
                </a:solidFill>
                <a:latin typeface="Consolas"/>
              </a:rPr>
              <a:t>GENERATIVE AI ENGINEER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8"/>
                </a:solidFill>
                <a:latin typeface="Segoe UI"/>
              </a:rPr>
              <a:t>TARS Lab Academy  ·  GenAI Engineer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124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D4C8"/>
                </a:solidFill>
                <a:latin typeface="Consolas"/>
              </a:rPr>
              <a:t>16</a:t>
            </a:r>
            <a:r>
              <a:rPr sz="900" b="0" i="0">
                <a:solidFill>
                  <a:srgbClr val="8A97A8"/>
                </a:solidFill>
                <a:latin typeface="Consolas"/>
              </a:rPr>
              <a:t> / 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40640"/>
          </a:xfrm>
          <a:prstGeom prst="rect">
            <a:avLst/>
          </a:prstGeom>
          <a:solidFill>
            <a:srgbClr val="00D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D4C8"/>
                </a:solidFill>
                <a:latin typeface="Consolas"/>
              </a:rPr>
              <a:t>—  DAY 1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0" b="1" i="0">
                <a:solidFill>
                  <a:srgbClr val="00D4C8"/>
                </a:solidFill>
                <a:latin typeface="Segoe UI"/>
              </a:rPr>
              <a:t>Let's 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8A97A8"/>
                </a:solidFill>
                <a:latin typeface="Segoe UI"/>
              </a:rPr>
              <a:t>Next:  </a:t>
            </a:r>
            <a:r>
              <a:rPr sz="1800" b="1" i="0">
                <a:solidFill>
                  <a:srgbClr val="00D4C8"/>
                </a:solidFill>
                <a:latin typeface="Segoe UI"/>
              </a:rPr>
              <a:t>Day 2 — Python OOP &amp; Advanced.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8A97A8"/>
                </a:solidFill>
                <a:latin typeface="Segoe UI"/>
              </a:rPr>
              <a:t>Functions, classes, decorators, generators &amp; a small OOP CLI project.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97A8"/>
                </a:solidFill>
                <a:latin typeface="Segoe UI"/>
              </a:rPr>
              <a:t>Questions? Bring them to the notebook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