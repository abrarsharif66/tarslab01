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x="18288000" cy="10287000"/>
  <p:notesSz cx="6858000" cy="9144000"/>
  <p:embeddedFontLst>
    <p:embeddedFont>
      <p:font typeface="Montserrat Semi-Bold" charset="1" panose="00000700000000000000"/>
      <p:regular r:id="rId21"/>
    </p:embeddedFont>
    <p:embeddedFont>
      <p:font typeface="Montserrat Bold" charset="1" panose="00000800000000000000"/>
      <p:regular r:id="rId22"/>
    </p:embeddedFont>
    <p:embeddedFont>
      <p:font typeface="Poppins Medium" charset="1" panose="000006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05322" y="800375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64929" y="409821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53373" y="2251718"/>
            <a:ext cx="981253" cy="888480"/>
          </a:xfrm>
          <a:custGeom>
            <a:avLst/>
            <a:gdLst/>
            <a:ahLst/>
            <a:cxnLst/>
            <a:rect r="r" b="b" t="t" l="l"/>
            <a:pathLst>
              <a:path h="888480" w="981253">
                <a:moveTo>
                  <a:pt x="0" y="0"/>
                </a:moveTo>
                <a:lnTo>
                  <a:pt x="981254" y="0"/>
                </a:lnTo>
                <a:lnTo>
                  <a:pt x="981254" y="888480"/>
                </a:lnTo>
                <a:lnTo>
                  <a:pt x="0" y="888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35345" y="3527470"/>
            <a:ext cx="7617309" cy="134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44"/>
              </a:lnSpc>
            </a:pPr>
            <a:r>
              <a:rPr lang="en-US" b="true" sz="10355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Generative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7193" y="4674645"/>
            <a:ext cx="11293614" cy="165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35"/>
              </a:lnSpc>
            </a:pPr>
            <a:r>
              <a:rPr lang="en-US" b="true" sz="12716">
                <a:solidFill>
                  <a:srgbClr val="80C7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Engineer Bootcamp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4000" y="6659843"/>
            <a:ext cx="7900001" cy="34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b="true" sz="2697" spc="2157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PYTHON CORE &amp; ENVIRONMENTS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grpSp>
        <p:nvGrpSpPr>
          <p:cNvPr name="Group 13" id="13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45-DAY PROGRAM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ontserrat Bold"/>
              </a:rPr>
              <a:t>Welcome to </a:t>
            </a:r>
            <a:r>
              <a:rPr sz="4000" b="0">
                <a:solidFill>
                  <a:srgbClr val="80C772"/>
                </a:solidFill>
                <a:latin typeface="Montserrat Bold"/>
              </a:rPr>
              <a:t>TARS Lab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651760"/>
            <a:ext cx="154533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FDEC9"/>
                </a:solidFill>
                <a:latin typeface="Montserrat Semi-Bold"/>
              </a:rPr>
              <a:t>We don't teach you to watch — we teach you to </a:t>
            </a:r>
            <a:r>
              <a:rPr sz="1600" b="0">
                <a:solidFill>
                  <a:srgbClr val="80C772"/>
                </a:solidFill>
                <a:latin typeface="Montserrat Bold"/>
              </a:rPr>
              <a:t>ship</a:t>
            </a:r>
            <a:r>
              <a:rPr sz="1600" b="0">
                <a:solidFill>
                  <a:srgbClr val="CFDEC9"/>
                </a:solidFill>
                <a:latin typeface="Montserrat Semi-Bold"/>
              </a:rPr>
              <a:t>. Every day pairs one focused concept with a real build, so by Day 45 you have a portfolio, not just notes.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4937760"/>
            <a:ext cx="4937760" cy="246888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0512" y="5120640"/>
            <a:ext cx="448056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🎯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Outcome-first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Each day ends with something running on your machine.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30568" y="4937760"/>
            <a:ext cx="4937760" cy="246888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8312" y="5120640"/>
            <a:ext cx="448056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🧱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Foundations → Frontier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Python today; RAG, agents, fine-tuning &amp; LLMOps later.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88368" y="4937760"/>
            <a:ext cx="4937760" cy="246888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26112" y="5120640"/>
            <a:ext cx="4480560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🛠️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Industry tools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LangChain, LangGraph, AutoGen, MCP, Docker, K8s.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THE 45-DAY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ontserrat Bold"/>
              </a:rPr>
              <a:t>12 phases, one journey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72768" y="3833368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3017520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P1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Foundations (Python)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017520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D1–3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8047" y="3833368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8047" y="3017520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P2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How LLMs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7" y="3017520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D4–7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72768" y="4674616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72768" y="3858768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P3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Building LLM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3858768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D8–11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8047" y="4674616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7" y="3858768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P4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Advanced 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7" y="3858768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D12–16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72768" y="5515864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2768" y="4700016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P5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AI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4700016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D17–21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8047" y="5515864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7" y="4700016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P6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Multi-Agent (AutoGen)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7" y="4700016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D22–25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72768" y="6357112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72768" y="5541264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P7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MCP &amp; Coding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5541264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D26–29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28047" y="6357112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28047" y="5541264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P8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Fine-Tuning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47" y="5541264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D30–32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72768" y="7198360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72768" y="6382512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P9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Evaluation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72768" y="6382512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D33–35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28047" y="7198360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28047" y="6382512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P10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Security &amp; Guardrails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8047" y="6382512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D36–38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72768" y="8039608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72768" y="7223760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P11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LLMOps &amp; Production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768" y="7223760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D39–42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28047" y="8039608"/>
            <a:ext cx="7498079" cy="12700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28047" y="7223760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0C772"/>
                </a:solidFill>
                <a:latin typeface="Consolas"/>
              </a:rPr>
              <a:t>P12 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Capstone &amp; Career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28047" y="7223760"/>
            <a:ext cx="74980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2B833"/>
                </a:solidFill>
                <a:latin typeface="Consolas"/>
              </a:rPr>
              <a:t>D43–45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THE RHYTHM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0">
                <a:solidFill>
                  <a:srgbClr val="FFFFFF"/>
                </a:solidFill>
                <a:latin typeface="Montserrat Bold"/>
              </a:rPr>
              <a:t>How every day 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3291840"/>
            <a:ext cx="4937760" cy="274320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0512" y="3474720"/>
            <a:ext cx="4480560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📖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1 · Learn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A tight concept block — theory + intuition, no fluff.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0568" y="3291840"/>
            <a:ext cx="4937760" cy="274320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3474720"/>
            <a:ext cx="4480560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⌨️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2 · Code along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A guided Jupyter notebook you run line by line with 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88368" y="3291840"/>
            <a:ext cx="4937760" cy="274320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26112" y="3474720"/>
            <a:ext cx="4480560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3 · Build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A daily challenge you finish on your own.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649224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Today's notebook:  Day01_Python_Core_and_Environments.ipynb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PHASE 1 · FOUNDATIONS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0">
                <a:solidFill>
                  <a:srgbClr val="80C772"/>
                </a:solidFill>
                <a:latin typeface="Montserrat Bold"/>
              </a:rPr>
              <a:t>Day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937760"/>
            <a:ext cx="154533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Montserrat Bold"/>
              </a:rPr>
              <a:t>Python Core &amp; Environments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5943600"/>
            <a:ext cx="11887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FDEC9"/>
                </a:solidFill>
                <a:latin typeface="Montserrat Semi-Bold"/>
              </a:rPr>
              <a:t>The language every GenAI tool speaks — and the workspace you'll live in for the next 45 days.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TODAY'S AGENDA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Montserrat Bold"/>
              </a:rPr>
              <a:t>What we cover in this hour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3063240"/>
            <a:ext cx="7589520" cy="141732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0512" y="3246120"/>
            <a:ext cx="713232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⚙️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Environments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VS Code · Conda · UV · virtual environments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3063240"/>
            <a:ext cx="7589520" cy="141732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3246120"/>
            <a:ext cx="713232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🔤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Variables &amp; types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int, float, complex, str, bool, None + casting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72768" y="4681728"/>
            <a:ext cx="7589520" cy="141732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10512" y="4864608"/>
            <a:ext cx="713232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➗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Operators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arithmetic, comparison, logical, assignment, membership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4681728"/>
            <a:ext cx="7589520" cy="141732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4864608"/>
            <a:ext cx="713232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Control flow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if / elif / else · for · while · break / continue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72768" y="6300216"/>
            <a:ext cx="7589520" cy="141732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10512" y="6483096"/>
            <a:ext cx="713232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Data structures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list, comprehensions, tuple, set, dict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6608" y="6300216"/>
            <a:ext cx="7589520" cy="141732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6483096"/>
            <a:ext cx="713232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Build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data-manipulation exercises in the notebook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0">
                <a:solidFill>
                  <a:srgbClr val="FFFFFF"/>
                </a:solidFill>
                <a:latin typeface="Montserrat Bold"/>
              </a:rPr>
              <a:t>Why Python for GenAI?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200400"/>
            <a:ext cx="1545335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900" b="0">
                <a:solidFill>
                  <a:srgbClr val="80C772"/>
                </a:solidFill>
                <a:latin typeface="Montserrat Bold"/>
              </a:rPr>
              <a:t>It's the lingua franca</a:t>
            </a:r>
            <a:r>
              <a:rPr sz="1900" b="0">
                <a:solidFill>
                  <a:srgbClr val="FFFFFF"/>
                </a:solidFill>
                <a:latin typeface="Montserrat Semi-Bold"/>
              </a:rPr>
              <a:t> — PyTorch, Transformers, LangChain — every SDK is Python-first.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900" b="0">
                <a:solidFill>
                  <a:srgbClr val="80C772"/>
                </a:solidFill>
                <a:latin typeface="Montserrat Bold"/>
              </a:rPr>
              <a:t>Fast to prototype</a:t>
            </a:r>
            <a:r>
              <a:rPr sz="1900" b="0">
                <a:solidFill>
                  <a:srgbClr val="FFFFFF"/>
                </a:solidFill>
                <a:latin typeface="Montserrat Semi-Bold"/>
              </a:rPr>
              <a:t> — readable syntax takes you from idea to running code in minutes.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900" b="0">
                <a:solidFill>
                  <a:srgbClr val="80C772"/>
                </a:solidFill>
                <a:latin typeface="Montserrat Bold"/>
              </a:rPr>
              <a:t>Massive ecosystem</a:t>
            </a:r>
            <a:r>
              <a:rPr sz="1900" b="0">
                <a:solidFill>
                  <a:srgbClr val="FFFFFF"/>
                </a:solidFill>
                <a:latin typeface="Montserrat Semi-Bold"/>
              </a:rPr>
              <a:t> — data, ML, web and deployment all live in one language.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900" b="0">
                <a:solidFill>
                  <a:srgbClr val="80C772"/>
                </a:solidFill>
                <a:latin typeface="Montserrat Bold"/>
              </a:rPr>
              <a:t>The glue layer</a:t>
            </a:r>
            <a:r>
              <a:rPr sz="1900" b="0">
                <a:solidFill>
                  <a:srgbClr val="FFFFFF"/>
                </a:solidFill>
                <a:latin typeface="Montserrat Semi-Bold"/>
              </a:rPr>
              <a:t> — call APIs, orchestrate agents and serve models from one script.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FFFFFF"/>
                </a:solidFill>
                <a:latin typeface="Montserrat Bold"/>
              </a:rPr>
              <a:t>Your workspace: VS Code · Conda · UV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3291840"/>
            <a:ext cx="4937760" cy="292608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0512" y="3474720"/>
            <a:ext cx="4480560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VS Code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Editor + Python &amp; Jupyter extensions. Where you write, run and debug everything.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0568" y="3291840"/>
            <a:ext cx="4937760" cy="292608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3474720"/>
            <a:ext cx="4480560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🐍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Conda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Manages Python versions and heavyweight ML packages cleanly, in isolated environments.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88368" y="3291840"/>
            <a:ext cx="4937760" cy="2926080"/>
          </a:xfrm>
          <a:prstGeom prst="roundRect">
            <a:avLst/>
          </a:prstGeom>
          <a:solidFill>
            <a:srgbClr val="102A12"/>
          </a:solidFill>
          <a:ln w="12700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26112" y="3474720"/>
            <a:ext cx="4480560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Montserrat Semi-Bold"/>
              </a:rPr>
              <a:t>⚡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UV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FDEC9"/>
                </a:solidFill>
                <a:latin typeface="Montserrat Semi-Bold"/>
              </a:rPr>
              <a:t>Ultra-fast package &amp; project manager — like pip, but resolves in seconds not minutes.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649224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Tip: Ctrl/Cmd+Shift+P → 'Python: Select Interpreter' to point VS Code at your env.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>
                <a:solidFill>
                  <a:srgbClr val="FFFFFF"/>
                </a:solidFill>
                <a:latin typeface="Montserrat Bold"/>
              </a:rPr>
              <a:t>Virtual environments — why &amp; 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743200"/>
            <a:ext cx="15453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FDEC9"/>
                </a:solidFill>
                <a:latin typeface="Montserrat Semi-Bold"/>
              </a:rPr>
              <a:t>Each project gets its own sandbox of dependencies, so versions never collide. Non-negotiable in AI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3566160"/>
            <a:ext cx="15453359" cy="420624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47088" y="369417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5376" y="4023360"/>
            <a:ext cx="14868143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9CB396"/>
                </a:solidFill>
                <a:latin typeface="Consolas"/>
              </a:rPr>
              <a:t># Option A — Conda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conda create </a:t>
            </a:r>
            <a:r>
              <a:rPr sz="1450" b="0">
                <a:solidFill>
                  <a:srgbClr val="C2B833"/>
                </a:solidFill>
                <a:latin typeface="Consolas"/>
              </a:rPr>
              <a:t>-n </a:t>
            </a:r>
            <a:r>
              <a:rPr sz="1450" b="0">
                <a:solidFill>
                  <a:srgbClr val="54B087"/>
                </a:solidFill>
                <a:latin typeface="Consolas"/>
              </a:rPr>
              <a:t>genai </a:t>
            </a:r>
            <a:r>
              <a:rPr sz="1450" b="0">
                <a:solidFill>
                  <a:srgbClr val="FFFFFF"/>
                </a:solidFill>
                <a:latin typeface="Consolas"/>
              </a:rPr>
              <a:t>python=3.11 </a:t>
            </a:r>
            <a:r>
              <a:rPr sz="1450" b="0">
                <a:solidFill>
                  <a:srgbClr val="C2B833"/>
                </a:solidFill>
                <a:latin typeface="Consolas"/>
              </a:rPr>
              <a:t>-y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conda activate </a:t>
            </a:r>
            <a:r>
              <a:rPr sz="1450" b="0">
                <a:solidFill>
                  <a:srgbClr val="54B087"/>
                </a:solidFill>
                <a:latin typeface="Consolas"/>
              </a:rPr>
              <a:t>genai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9CB396"/>
                </a:solidFill>
                <a:latin typeface="Consolas"/>
              </a:rPr>
              <a:t># Option B — UV  (fast, modern)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uv venv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                # creates .venv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source .venv/bin/activate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# Windows: .venv\Scripts\activate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uv pip install </a:t>
            </a:r>
            <a:r>
              <a:rPr sz="1450" b="0">
                <a:solidFill>
                  <a:srgbClr val="54B087"/>
                </a:solidFill>
                <a:latin typeface="Consolas"/>
              </a:rPr>
              <a:t>numpy pandas streamlit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9CB396"/>
                </a:solidFill>
                <a:latin typeface="Consolas"/>
              </a:rPr>
              <a:t># verify which Python you're 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python </a:t>
            </a:r>
            <a:r>
              <a:rPr sz="1450" b="0">
                <a:solidFill>
                  <a:srgbClr val="C2B833"/>
                </a:solidFill>
                <a:latin typeface="Consolas"/>
              </a:rPr>
              <a:t>-c </a:t>
            </a:r>
            <a:r>
              <a:rPr sz="1450" b="0">
                <a:solidFill>
                  <a:srgbClr val="54B087"/>
                </a:solidFill>
                <a:latin typeface="Consolas"/>
              </a:rPr>
              <a:t>"import sys; print(sys.executable)"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LANGUAGE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ontserrat Bold"/>
              </a:rPr>
              <a:t>Variables &amp; dynamic typing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74320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FDEC9"/>
                </a:solidFill>
                <a:latin typeface="Montserrat Semi-Bold"/>
              </a:rPr>
              <a:t>No type declarations — a variable is just a </a:t>
            </a:r>
            <a:r>
              <a:rPr sz="1500" b="0">
                <a:solidFill>
                  <a:srgbClr val="80C772"/>
                </a:solidFill>
                <a:latin typeface="Montserrat Bold"/>
              </a:rPr>
              <a:t>name bound to an object</a:t>
            </a:r>
            <a:r>
              <a:rPr sz="1500" b="0">
                <a:solidFill>
                  <a:srgbClr val="CFDEC9"/>
                </a:solidFill>
                <a:latin typeface="Montserrat Semi-Bold"/>
              </a:rPr>
              <a:t>. The type lives on the value, and can change.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3657600"/>
            <a:ext cx="15453359" cy="393192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47088" y="378561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5376" y="4114800"/>
            <a:ext cx="14868143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name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C2B833"/>
                </a:solidFill>
                <a:latin typeface="Consolas"/>
              </a:rPr>
              <a:t>"TARS"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# str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days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45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   # 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days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C2B833"/>
                </a:solidFill>
                <a:latin typeface="Consolas"/>
              </a:rPr>
              <a:t>"forty-five"</a:t>
            </a:r>
            <a:r>
              <a:rPr sz="1450" b="0">
                <a:solidFill>
                  <a:srgbClr val="9CB396"/>
                </a:solidFill>
                <a:latin typeface="Consolas"/>
              </a:rPr>
              <a:t>   # now a str — totally legal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x = y = z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0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# chained assignment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a, b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1, 2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# multiple assignment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a, b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b, a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# swap, no temp var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print(</a:t>
            </a:r>
            <a:r>
              <a:rPr sz="1450" b="0">
                <a:solidFill>
                  <a:srgbClr val="80C772"/>
                </a:solidFill>
                <a:latin typeface="Consolas"/>
              </a:rPr>
              <a:t>type</a:t>
            </a:r>
            <a:r>
              <a:rPr sz="1450" b="0">
                <a:solidFill>
                  <a:srgbClr val="FFFFFF"/>
                </a:solidFill>
                <a:latin typeface="Consolas"/>
              </a:rPr>
              <a:t>(name), </a:t>
            </a:r>
            <a:r>
              <a:rPr sz="1450" b="0">
                <a:solidFill>
                  <a:srgbClr val="80C772"/>
                </a:solidFill>
                <a:latin typeface="Consolas"/>
              </a:rPr>
              <a:t>type</a:t>
            </a:r>
            <a:r>
              <a:rPr sz="1450" b="0">
                <a:solidFill>
                  <a:srgbClr val="FFFFFF"/>
                </a:solidFill>
                <a:latin typeface="Consolas"/>
              </a:rPr>
              <a:t>(days))</a:t>
            </a:r>
            <a:r>
              <a:rPr sz="1450" b="0">
                <a:solidFill>
                  <a:srgbClr val="9CB396"/>
                </a:solidFill>
                <a:latin typeface="Consolas"/>
              </a:rPr>
              <a:t>   # &lt;class 'str'&gt; 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DATA TYPES · 1 OF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>
                <a:solidFill>
                  <a:srgbClr val="FFFFFF"/>
                </a:solidFill>
                <a:latin typeface="Montserrat Bold"/>
              </a:rPr>
              <a:t>Numbers — </a:t>
            </a:r>
            <a:r>
              <a:rPr sz="3600" b="0">
                <a:solidFill>
                  <a:srgbClr val="80C772"/>
                </a:solidFill>
                <a:latin typeface="Montserrat Bold"/>
              </a:rPr>
              <a:t>int · float · complex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292608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count  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42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  # int  (unlimited size)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price  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19.99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# float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big    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1_000_000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# underscores for readability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z      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2 + 3j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# complex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ratio  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80C772"/>
                </a:solidFill>
                <a:latin typeface="Consolas"/>
              </a:rPr>
              <a:t>int</a:t>
            </a:r>
            <a:r>
              <a:rPr sz="1450" b="0">
                <a:solidFill>
                  <a:srgbClr val="FFFFFF"/>
                </a:solidFill>
                <a:latin typeface="Consolas"/>
              </a:rPr>
              <a:t>(</a:t>
            </a:r>
            <a:r>
              <a:rPr sz="1450" b="0">
                <a:solidFill>
                  <a:srgbClr val="54B087"/>
                </a:solidFill>
                <a:latin typeface="Consolas"/>
              </a:rPr>
              <a:t>price</a:t>
            </a:r>
            <a:r>
              <a:rPr sz="1450" b="0">
                <a:solidFill>
                  <a:srgbClr val="FFFFFF"/>
                </a:solidFill>
                <a:latin typeface="Consolas"/>
              </a:rPr>
              <a:t>)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# -&gt; 19  (truncates)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6126480"/>
            <a:ext cx="15453359" cy="420624"/>
          </a:xfrm>
          <a:prstGeom prst="roundRect">
            <a:avLst/>
          </a:prstGeom>
          <a:solidFill>
            <a:srgbClr val="102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9928" y="6126480"/>
            <a:ext cx="41440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Operation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6868" y="6126480"/>
            <a:ext cx="630753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78" y="6126480"/>
            <a:ext cx="445312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72768" y="6537579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09928" y="6547104"/>
            <a:ext cx="41440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round / 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6868" y="6547104"/>
            <a:ext cx="630753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round(19.99, 1) · abs(-4)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78" y="6547104"/>
            <a:ext cx="445312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20.0 ·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2768" y="6958203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09928" y="6967728"/>
            <a:ext cx="41440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int ↔ float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6868" y="6967728"/>
            <a:ext cx="630753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float(3) · int(3.9)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27278" y="6967728"/>
            <a:ext cx="445312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3.0 ·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72768" y="7378827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09928" y="7388352"/>
            <a:ext cx="41440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divmod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6868" y="7388352"/>
            <a:ext cx="630753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divmod(17, 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78" y="7388352"/>
            <a:ext cx="4453127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(3, 2)  → quotient, remainder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72768" y="7799451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DATA TYPES · 2 OF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Montserrat Bold"/>
              </a:rPr>
              <a:t>Strings — </a:t>
            </a:r>
            <a:r>
              <a:rPr sz="3800" b="0">
                <a:solidFill>
                  <a:srgbClr val="80C772"/>
                </a:solidFill>
                <a:latin typeface="Montserrat Bold"/>
              </a:rPr>
              <a:t>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329184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course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C2B833"/>
                </a:solidFill>
                <a:latin typeface="Consolas"/>
              </a:rPr>
              <a:t>"GenAI Bootcamp"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course[</a:t>
            </a:r>
            <a:r>
              <a:rPr sz="1400" b="0">
                <a:solidFill>
                  <a:srgbClr val="54B087"/>
                </a:solidFill>
                <a:latin typeface="Consolas"/>
              </a:rPr>
              <a:t>0</a:t>
            </a:r>
            <a:r>
              <a:rPr sz="1400" b="0">
                <a:solidFill>
                  <a:srgbClr val="FFFFFF"/>
                </a:solidFill>
                <a:latin typeface="Consolas"/>
              </a:rPr>
              <a:t>]      </a:t>
            </a:r>
            <a:r>
              <a:rPr sz="1400" b="0">
                <a:solidFill>
                  <a:srgbClr val="9CB396"/>
                </a:solidFill>
                <a:latin typeface="Consolas"/>
              </a:rPr>
              <a:t># 'G'   indexing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course[</a:t>
            </a:r>
            <a:r>
              <a:rPr sz="1400" b="0">
                <a:solidFill>
                  <a:srgbClr val="54B087"/>
                </a:solidFill>
                <a:latin typeface="Consolas"/>
              </a:rPr>
              <a:t>0:5</a:t>
            </a:r>
            <a:r>
              <a:rPr sz="1400" b="0">
                <a:solidFill>
                  <a:srgbClr val="FFFFFF"/>
                </a:solidFill>
                <a:latin typeface="Consolas"/>
              </a:rPr>
              <a:t>]    </a:t>
            </a:r>
            <a:r>
              <a:rPr sz="1400" b="0">
                <a:solidFill>
                  <a:srgbClr val="9CB396"/>
                </a:solidFill>
                <a:latin typeface="Consolas"/>
              </a:rPr>
              <a:t># 'GenAI'   slicing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course[::-</a:t>
            </a:r>
            <a:r>
              <a:rPr sz="1400" b="0">
                <a:solidFill>
                  <a:srgbClr val="54B087"/>
                </a:solidFill>
                <a:latin typeface="Consolas"/>
              </a:rPr>
              <a:t>1</a:t>
            </a:r>
            <a:r>
              <a:rPr sz="1400" b="0">
                <a:solidFill>
                  <a:srgbClr val="FFFFFF"/>
                </a:solidFill>
                <a:latin typeface="Consolas"/>
              </a:rPr>
              <a:t>]   </a:t>
            </a:r>
            <a:r>
              <a:rPr sz="1400" b="0">
                <a:solidFill>
                  <a:srgbClr val="9CB396"/>
                </a:solidFill>
                <a:latin typeface="Consolas"/>
              </a:rPr>
              <a:t># reversed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course.upper(), course.split(), course.replace(</a:t>
            </a:r>
            <a:r>
              <a:rPr sz="1400" b="0">
                <a:solidFill>
                  <a:srgbClr val="C2B833"/>
                </a:solidFill>
                <a:latin typeface="Consolas"/>
              </a:rPr>
              <a:t>"AI"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>
                <a:solidFill>
                  <a:srgbClr val="C2B833"/>
                </a:solidFill>
                <a:latin typeface="Consolas"/>
              </a:rPr>
              <a:t>"ML"</a:t>
            </a:r>
            <a:r>
              <a:rPr sz="1400" b="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C2B833"/>
                </a:solidFill>
                <a:latin typeface="Consolas"/>
              </a:rPr>
              <a:t>f"</a:t>
            </a:r>
            <a:r>
              <a:rPr sz="1400" b="0">
                <a:solidFill>
                  <a:srgbClr val="C2B833"/>
                </a:solidFill>
                <a:latin typeface="Consolas"/>
              </a:rPr>
              <a:t>Day </a:t>
            </a:r>
            <a:r>
              <a:rPr sz="1400" b="0">
                <a:solidFill>
                  <a:srgbClr val="FFFFFF"/>
                </a:solidFill>
                <a:latin typeface="Consolas"/>
              </a:rPr>
              <a:t>{</a:t>
            </a:r>
            <a:r>
              <a:rPr sz="1400" b="0">
                <a:solidFill>
                  <a:srgbClr val="54B087"/>
                </a:solidFill>
                <a:latin typeface="Consolas"/>
              </a:rPr>
              <a:t>1</a:t>
            </a:r>
            <a:r>
              <a:rPr sz="1400" b="0">
                <a:solidFill>
                  <a:srgbClr val="FFFFFF"/>
                </a:solidFill>
                <a:latin typeface="Consolas"/>
              </a:rPr>
              <a:t>}</a:t>
            </a:r>
            <a:r>
              <a:rPr sz="1400" b="0">
                <a:solidFill>
                  <a:srgbClr val="C2B833"/>
                </a:solidFill>
                <a:latin typeface="Consolas"/>
              </a:rPr>
              <a:t> of </a:t>
            </a:r>
            <a:r>
              <a:rPr sz="1400" b="0">
                <a:solidFill>
                  <a:srgbClr val="FFFFFF"/>
                </a:solidFill>
                <a:latin typeface="Consolas"/>
              </a:rPr>
              <a:t>{</a:t>
            </a:r>
            <a:r>
              <a:rPr sz="1400" b="0">
                <a:solidFill>
                  <a:srgbClr val="54B087"/>
                </a:solidFill>
                <a:latin typeface="Consolas"/>
              </a:rPr>
              <a:t>45</a:t>
            </a:r>
            <a:r>
              <a:rPr sz="1400" b="0">
                <a:solidFill>
                  <a:srgbClr val="FFFFFF"/>
                </a:solidFill>
                <a:latin typeface="Consolas"/>
              </a:rPr>
              <a:t>}</a:t>
            </a:r>
            <a:r>
              <a:rPr sz="1400" b="0">
                <a:solidFill>
                  <a:srgbClr val="C2B833"/>
                </a:solidFill>
                <a:latin typeface="Consolas"/>
              </a:rPr>
              <a:t>"</a:t>
            </a:r>
            <a:r>
              <a:rPr sz="1400" b="0">
                <a:solidFill>
                  <a:srgbClr val="9CB396"/>
                </a:solidFill>
                <a:latin typeface="Consolas"/>
              </a:rPr>
              <a:t>           # f-string -&gt; 'Day 1 of 45'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C2B833"/>
                </a:solidFill>
                <a:latin typeface="Consolas"/>
              </a:rPr>
              <a:t>f"</a:t>
            </a:r>
            <a:r>
              <a:rPr sz="1400" b="0">
                <a:solidFill>
                  <a:srgbClr val="FFFFFF"/>
                </a:solidFill>
                <a:latin typeface="Consolas"/>
              </a:rPr>
              <a:t>{</a:t>
            </a:r>
            <a:r>
              <a:rPr sz="1400" b="0">
                <a:solidFill>
                  <a:srgbClr val="54B087"/>
                </a:solidFill>
                <a:latin typeface="Consolas"/>
              </a:rPr>
              <a:t>price</a:t>
            </a:r>
            <a:r>
              <a:rPr sz="1400" b="0">
                <a:solidFill>
                  <a:srgbClr val="C2B833"/>
                </a:solidFill>
                <a:latin typeface="Consolas"/>
              </a:rPr>
              <a:t>:.2f</a:t>
            </a:r>
            <a:r>
              <a:rPr sz="1400" b="0">
                <a:solidFill>
                  <a:srgbClr val="FFFFFF"/>
                </a:solidFill>
                <a:latin typeface="Consolas"/>
              </a:rPr>
              <a:t>}</a:t>
            </a:r>
            <a:r>
              <a:rPr sz="1400" b="0">
                <a:solidFill>
                  <a:srgbClr val="C2B833"/>
                </a:solidFill>
                <a:latin typeface="Consolas"/>
              </a:rPr>
              <a:t>"</a:t>
            </a:r>
            <a:r>
              <a:rPr sz="1400" b="0">
                <a:solidFill>
                  <a:srgbClr val="9CB396"/>
                </a:solidFill>
                <a:latin typeface="Consolas"/>
              </a:rPr>
              <a:t>              # format spec -&gt; '19.99'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658368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Strings are immutable — methods return a NEW string, they never modify in place.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DATA TYPES · 3 OF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Montserrat Bold"/>
              </a:rPr>
              <a:t>Booleans &amp; </a:t>
            </a:r>
            <a:r>
              <a:rPr sz="3800" b="0">
                <a:solidFill>
                  <a:srgbClr val="80C772"/>
                </a:solidFill>
                <a:latin typeface="Montserrat Bold"/>
              </a:rPr>
              <a:t>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265176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is_ready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True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# bool: True / False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result  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None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# 'no value yet'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bool(</a:t>
            </a:r>
            <a:r>
              <a:rPr sz="1450" b="0">
                <a:solidFill>
                  <a:srgbClr val="54B087"/>
                </a:solidFill>
                <a:latin typeface="Consolas"/>
              </a:rPr>
              <a:t>0</a:t>
            </a:r>
            <a:r>
              <a:rPr sz="1450" b="0">
                <a:solidFill>
                  <a:srgbClr val="80C772"/>
                </a:solidFill>
                <a:latin typeface="Consolas"/>
              </a:rPr>
              <a:t>), bool(</a:t>
            </a:r>
            <a:r>
              <a:rPr sz="1450" b="0">
                <a:solidFill>
                  <a:srgbClr val="C2B833"/>
                </a:solidFill>
                <a:latin typeface="Consolas"/>
              </a:rPr>
              <a:t>""</a:t>
            </a:r>
            <a:r>
              <a:rPr sz="1450" b="0">
                <a:solidFill>
                  <a:srgbClr val="80C772"/>
                </a:solidFill>
                <a:latin typeface="Consolas"/>
              </a:rPr>
              <a:t>), bool(</a:t>
            </a:r>
            <a:r>
              <a:rPr sz="1450" b="0">
                <a:solidFill>
                  <a:srgbClr val="FFFFFF"/>
                </a:solidFill>
                <a:latin typeface="Consolas"/>
              </a:rPr>
              <a:t>[]</a:t>
            </a:r>
            <a:r>
              <a:rPr sz="1450" b="0">
                <a:solidFill>
                  <a:srgbClr val="FFFFFF"/>
                </a:solidFill>
                <a:latin typeface="Consolas"/>
              </a:rPr>
              <a:t>)</a:t>
            </a:r>
            <a:r>
              <a:rPr sz="1450" b="0">
                <a:solidFill>
                  <a:srgbClr val="9CB396"/>
                </a:solidFill>
                <a:latin typeface="Consolas"/>
              </a:rPr>
              <a:t>   # all False (falsy)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bool(</a:t>
            </a:r>
            <a:r>
              <a:rPr sz="1450" b="0">
                <a:solidFill>
                  <a:srgbClr val="54B087"/>
                </a:solidFill>
                <a:latin typeface="Consolas"/>
              </a:rPr>
              <a:t>42</a:t>
            </a:r>
            <a:r>
              <a:rPr sz="1450" b="0">
                <a:solidFill>
                  <a:srgbClr val="80C772"/>
                </a:solidFill>
                <a:latin typeface="Consolas"/>
              </a:rPr>
              <a:t>), bool(</a:t>
            </a:r>
            <a:r>
              <a:rPr sz="1450" b="0">
                <a:solidFill>
                  <a:srgbClr val="C2B833"/>
                </a:solidFill>
                <a:latin typeface="Consolas"/>
              </a:rPr>
              <a:t>"hi"</a:t>
            </a:r>
            <a:r>
              <a:rPr sz="1450" b="0">
                <a:solidFill>
                  <a:srgbClr val="FFFFFF"/>
                </a:solidFill>
                <a:latin typeface="Consolas"/>
              </a:rPr>
              <a:t>)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# both True (truthy)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5943600"/>
            <a:ext cx="1545335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500" b="0">
                <a:solidFill>
                  <a:srgbClr val="C2B833"/>
                </a:solidFill>
                <a:latin typeface="Montserrat Bold"/>
              </a:rPr>
              <a:t>Falsy values:</a:t>
            </a:r>
            <a:r>
              <a:rPr sz="1500" b="0">
                <a:solidFill>
                  <a:srgbClr val="CFDEC9"/>
                </a:solidFill>
                <a:latin typeface="Consolas"/>
              </a:rPr>
              <a:t> 0, 0.0, '', [], {}, set(), None, False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500" b="0">
                <a:solidFill>
                  <a:srgbClr val="80C772"/>
                </a:solidFill>
                <a:latin typeface="Montserrat Bold"/>
              </a:rPr>
              <a:t>Everything else is truthy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 — used directly in if-statements.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DATA TYPES · 4 OF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>
                <a:solidFill>
                  <a:srgbClr val="FFFFFF"/>
                </a:solidFill>
                <a:latin typeface="Montserrat Bold"/>
              </a:rPr>
              <a:t>Type conversion &amp; checking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292608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80C772"/>
                </a:solidFill>
                <a:latin typeface="Consolas"/>
              </a:rPr>
              <a:t>int(</a:t>
            </a:r>
            <a:r>
              <a:rPr sz="1400" b="0">
                <a:solidFill>
                  <a:srgbClr val="C2B833"/>
                </a:solidFill>
                <a:latin typeface="Consolas"/>
              </a:rPr>
              <a:t>"10"</a:t>
            </a:r>
            <a:r>
              <a:rPr sz="1400" b="0">
                <a:solidFill>
                  <a:srgbClr val="80C772"/>
                </a:solidFill>
                <a:latin typeface="Consolas"/>
              </a:rPr>
              <a:t>), float(</a:t>
            </a:r>
            <a:r>
              <a:rPr sz="1400" b="0">
                <a:solidFill>
                  <a:srgbClr val="C2B833"/>
                </a:solidFill>
                <a:latin typeface="Consolas"/>
              </a:rPr>
              <a:t>"3.14"</a:t>
            </a:r>
            <a:r>
              <a:rPr sz="1400" b="0">
                <a:solidFill>
                  <a:srgbClr val="80C772"/>
                </a:solidFill>
                <a:latin typeface="Consolas"/>
              </a:rPr>
              <a:t>), str(</a:t>
            </a:r>
            <a:r>
              <a:rPr sz="1400" b="0">
                <a:solidFill>
                  <a:srgbClr val="54B087"/>
                </a:solidFill>
                <a:latin typeface="Consolas"/>
              </a:rPr>
              <a:t>99</a:t>
            </a:r>
            <a:r>
              <a:rPr sz="1400" b="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80C772"/>
                </a:solidFill>
                <a:latin typeface="Consolas"/>
              </a:rPr>
              <a:t>list(</a:t>
            </a:r>
            <a:r>
              <a:rPr sz="1400" b="0">
                <a:solidFill>
                  <a:srgbClr val="C2B833"/>
                </a:solidFill>
                <a:latin typeface="Consolas"/>
              </a:rPr>
              <a:t>"abc"</a:t>
            </a:r>
            <a:r>
              <a:rPr sz="1400" b="0">
                <a:solidFill>
                  <a:srgbClr val="80C772"/>
                </a:solidFill>
                <a:latin typeface="Consolas"/>
              </a:rPr>
              <a:t>), set([</a:t>
            </a:r>
            <a:r>
              <a:rPr sz="1400" b="0">
                <a:solidFill>
                  <a:srgbClr val="54B087"/>
                </a:solidFill>
                <a:latin typeface="Consolas"/>
              </a:rPr>
              <a:t>1</a:t>
            </a:r>
            <a:r>
              <a:rPr sz="1400" b="0">
                <a:solidFill>
                  <a:srgbClr val="FFFFFF"/>
                </a:solidFill>
                <a:latin typeface="Consolas"/>
              </a:rPr>
              <a:t>,</a:t>
            </a:r>
            <a:r>
              <a:rPr sz="1400" b="0">
                <a:solidFill>
                  <a:srgbClr val="54B087"/>
                </a:solidFill>
                <a:latin typeface="Consolas"/>
              </a:rPr>
              <a:t>1</a:t>
            </a:r>
            <a:r>
              <a:rPr sz="1400" b="0">
                <a:solidFill>
                  <a:srgbClr val="FFFFFF"/>
                </a:solidFill>
                <a:latin typeface="Consolas"/>
              </a:rPr>
              <a:t>,</a:t>
            </a:r>
            <a:r>
              <a:rPr sz="1400" b="0">
                <a:solidFill>
                  <a:srgbClr val="54B087"/>
                </a:solidFill>
                <a:latin typeface="Consolas"/>
              </a:rPr>
              <a:t>2</a:t>
            </a:r>
            <a:r>
              <a:rPr sz="1400" b="0">
                <a:solidFill>
                  <a:srgbClr val="80C772"/>
                </a:solidFill>
                <a:latin typeface="Consolas"/>
              </a:rPr>
              <a:t>]), tuple([</a:t>
            </a:r>
            <a:r>
              <a:rPr sz="1400" b="0">
                <a:solidFill>
                  <a:srgbClr val="54B087"/>
                </a:solidFill>
                <a:latin typeface="Consolas"/>
              </a:rPr>
              <a:t>1</a:t>
            </a:r>
            <a:r>
              <a:rPr sz="1400" b="0">
                <a:solidFill>
                  <a:srgbClr val="FFFFFF"/>
                </a:solidFill>
                <a:latin typeface="Consolas"/>
              </a:rPr>
              <a:t>,</a:t>
            </a:r>
            <a:r>
              <a:rPr sz="1400" b="0">
                <a:solidFill>
                  <a:srgbClr val="54B087"/>
                </a:solidFill>
                <a:latin typeface="Consolas"/>
              </a:rPr>
              <a:t>2</a:t>
            </a:r>
            <a:r>
              <a:rPr sz="1400" b="0">
                <a:solidFill>
                  <a:srgbClr val="FFFFFF"/>
                </a:solidFill>
                <a:latin typeface="Consolas"/>
              </a:rPr>
              <a:t>])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80C772"/>
                </a:solidFill>
                <a:latin typeface="Consolas"/>
              </a:rPr>
              <a:t>type</a:t>
            </a:r>
            <a:r>
              <a:rPr sz="1400" b="0">
                <a:solidFill>
                  <a:srgbClr val="FFFFFF"/>
                </a:solidFill>
                <a:latin typeface="Consolas"/>
              </a:rPr>
              <a:t>(x) </a:t>
            </a:r>
            <a:r>
              <a:rPr sz="1400" b="0">
                <a:solidFill>
                  <a:srgbClr val="80C772"/>
                </a:solidFill>
                <a:latin typeface="Consolas"/>
              </a:rPr>
              <a:t>is </a:t>
            </a:r>
            <a:r>
              <a:rPr sz="1400" b="0">
                <a:solidFill>
                  <a:srgbClr val="80C772"/>
                </a:solidFill>
                <a:latin typeface="Consolas"/>
              </a:rPr>
              <a:t>int</a:t>
            </a:r>
            <a:r>
              <a:rPr sz="1400" b="0">
                <a:solidFill>
                  <a:srgbClr val="9CB396"/>
                </a:solidFill>
                <a:latin typeface="Consolas"/>
              </a:rPr>
              <a:t>              # exact check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80C772"/>
                </a:solidFill>
                <a:latin typeface="Consolas"/>
              </a:rPr>
              <a:t>isinstance</a:t>
            </a:r>
            <a:r>
              <a:rPr sz="1400" b="0">
                <a:solidFill>
                  <a:srgbClr val="FFFFFF"/>
                </a:solidFill>
                <a:latin typeface="Consolas"/>
              </a:rPr>
              <a:t>(x, (</a:t>
            </a:r>
            <a:r>
              <a:rPr sz="1400" b="0">
                <a:solidFill>
                  <a:srgbClr val="80C772"/>
                </a:solidFill>
                <a:latin typeface="Consolas"/>
              </a:rPr>
              <a:t>int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>
                <a:solidFill>
                  <a:srgbClr val="80C772"/>
                </a:solidFill>
                <a:latin typeface="Consolas"/>
              </a:rPr>
              <a:t>float</a:t>
            </a:r>
            <a:r>
              <a:rPr sz="1400" b="0">
                <a:solidFill>
                  <a:srgbClr val="FFFFFF"/>
                </a:solidFill>
                <a:latin typeface="Consolas"/>
              </a:rPr>
              <a:t>))</a:t>
            </a:r>
            <a:r>
              <a:rPr sz="1400" b="0">
                <a:solidFill>
                  <a:srgbClr val="9CB396"/>
                </a:solidFill>
                <a:latin typeface="Consolas"/>
              </a:rPr>
              <a:t>    # preferred — allows subtypes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640080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Rule of thumb: use isinstance() for checks; bad casts raise ValueError — handle them (Day 2).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OPERATORS · 1 OF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ontserrat Bold"/>
              </a:rPr>
              <a:t>Arithmetic operators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3017520"/>
            <a:ext cx="15453359" cy="566928"/>
          </a:xfrm>
          <a:prstGeom prst="roundRect">
            <a:avLst/>
          </a:prstGeom>
          <a:solidFill>
            <a:srgbClr val="102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9928" y="3017520"/>
            <a:ext cx="321685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9666" y="3017520"/>
            <a:ext cx="59984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Meaning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1009" y="3017520"/>
            <a:ext cx="56893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Example → 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72768" y="3574923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09928" y="3584448"/>
            <a:ext cx="321685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+  -  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9666" y="3584448"/>
            <a:ext cx="59984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add · subtract · multiply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1009" y="3584448"/>
            <a:ext cx="56893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7 + 2 → 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72768" y="4141851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09928" y="4151376"/>
            <a:ext cx="321685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9666" y="4151376"/>
            <a:ext cx="59984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true division (float)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1009" y="4151376"/>
            <a:ext cx="56893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7 / 2 → 3.5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72768" y="4708779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9928" y="4718304"/>
            <a:ext cx="321685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//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9666" y="4718304"/>
            <a:ext cx="59984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floor division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1009" y="4718304"/>
            <a:ext cx="56893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7 // 2 →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72768" y="5275707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09928" y="5285232"/>
            <a:ext cx="321685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9666" y="5285232"/>
            <a:ext cx="59984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modulo (remainder)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1009" y="5285232"/>
            <a:ext cx="56893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7 % 2 →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72768" y="5842635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09928" y="5852160"/>
            <a:ext cx="321685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**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9666" y="5852160"/>
            <a:ext cx="59984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exponent (power)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1009" y="5852160"/>
            <a:ext cx="568939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7 ** 2 → 49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72768" y="6409563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72768" y="740664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Precedence: **  →  * / // %  →  + -.  Use ( ) to be explicit and readable.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OPERATORS · 2 OF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ontserrat Bold"/>
              </a:rPr>
              <a:t>Comparison &amp; logical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7406640" cy="502920"/>
          </a:xfrm>
          <a:prstGeom prst="roundRect">
            <a:avLst/>
          </a:prstGeom>
          <a:solidFill>
            <a:srgbClr val="102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9928" y="292608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92608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72768" y="3419475"/>
            <a:ext cx="7406640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9928" y="342900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==   !=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342900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equal · not equal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72768" y="3922395"/>
            <a:ext cx="7406640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09928" y="393192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&lt;  &gt;  &lt;=  &gt;=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393192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ordering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72768" y="4425315"/>
            <a:ext cx="7406640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18320" y="2926080"/>
            <a:ext cx="7589520" cy="502920"/>
          </a:xfrm>
          <a:prstGeom prst="roundRect">
            <a:avLst/>
          </a:prstGeom>
          <a:solidFill>
            <a:srgbClr val="102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926080"/>
            <a:ext cx="28529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Logical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91288" y="2926080"/>
            <a:ext cx="43708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3419475"/>
            <a:ext cx="7589520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3429000"/>
            <a:ext cx="28529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91288" y="3429000"/>
            <a:ext cx="43708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True if BOTH true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3922395"/>
            <a:ext cx="7589520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3931920"/>
            <a:ext cx="28529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91288" y="3931920"/>
            <a:ext cx="43708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True if EITHER true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4425315"/>
            <a:ext cx="7589520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4434840"/>
            <a:ext cx="28529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not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91288" y="4434840"/>
            <a:ext cx="43708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inverts the boolean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4928235"/>
            <a:ext cx="7589520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72768" y="5212080"/>
            <a:ext cx="15453359" cy="219456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47088" y="5340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65376" y="5669280"/>
            <a:ext cx="14868143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passed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FFFFFF"/>
                </a:solidFill>
                <a:latin typeface="Consolas"/>
              </a:rPr>
              <a:t>score &gt;= </a:t>
            </a:r>
            <a:r>
              <a:rPr sz="1400" b="0">
                <a:solidFill>
                  <a:srgbClr val="54B087"/>
                </a:solidFill>
                <a:latin typeface="Consolas"/>
              </a:rPr>
              <a:t>60 </a:t>
            </a:r>
            <a:r>
              <a:rPr sz="1400" b="0">
                <a:solidFill>
                  <a:srgbClr val="80C772"/>
                </a:solidFill>
                <a:latin typeface="Consolas"/>
              </a:rPr>
              <a:t>and </a:t>
            </a:r>
            <a:r>
              <a:rPr sz="1400" b="0">
                <a:solidFill>
                  <a:srgbClr val="FFFFFF"/>
                </a:solidFill>
                <a:latin typeface="Consolas"/>
              </a:rPr>
              <a:t>attendance &gt; </a:t>
            </a:r>
            <a:r>
              <a:rPr sz="1400" b="0">
                <a:solidFill>
                  <a:srgbClr val="54B087"/>
                </a:solidFill>
                <a:latin typeface="Consolas"/>
              </a:rPr>
              <a:t>0.8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4B087"/>
                </a:solidFill>
                <a:latin typeface="Consolas"/>
              </a:rPr>
              <a:t>18 </a:t>
            </a:r>
            <a:r>
              <a:rPr sz="1400" b="0">
                <a:solidFill>
                  <a:srgbClr val="80C772"/>
                </a:solidFill>
                <a:latin typeface="Consolas"/>
              </a:rPr>
              <a:t>&lt;= </a:t>
            </a:r>
            <a:r>
              <a:rPr sz="1400" b="0">
                <a:solidFill>
                  <a:srgbClr val="FFFFFF"/>
                </a:solidFill>
                <a:latin typeface="Consolas"/>
              </a:rPr>
              <a:t>age </a:t>
            </a:r>
            <a:r>
              <a:rPr sz="1400" b="0">
                <a:solidFill>
                  <a:srgbClr val="80C772"/>
                </a:solidFill>
                <a:latin typeface="Consolas"/>
              </a:rPr>
              <a:t>&lt; </a:t>
            </a:r>
            <a:r>
              <a:rPr sz="1400" b="0">
                <a:solidFill>
                  <a:srgbClr val="54B087"/>
                </a:solidFill>
                <a:latin typeface="Consolas"/>
              </a:rPr>
              <a:t>65</a:t>
            </a:r>
            <a:r>
              <a:rPr sz="1400" b="0">
                <a:solidFill>
                  <a:srgbClr val="9CB396"/>
                </a:solidFill>
                <a:latin typeface="Consolas"/>
              </a:rPr>
              <a:t>            # chained comparison — Pythonic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result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FFFFFF"/>
                </a:solidFill>
                <a:latin typeface="Consolas"/>
              </a:rPr>
              <a:t>value </a:t>
            </a:r>
            <a:r>
              <a:rPr sz="1400" b="0">
                <a:solidFill>
                  <a:srgbClr val="80C772"/>
                </a:solidFill>
                <a:latin typeface="Consolas"/>
              </a:rPr>
              <a:t>or </a:t>
            </a:r>
            <a:r>
              <a:rPr sz="1400" b="0">
                <a:solidFill>
                  <a:srgbClr val="C2B833"/>
                </a:solidFill>
                <a:latin typeface="Consolas"/>
              </a:rPr>
              <a:t>"default"</a:t>
            </a:r>
            <a:r>
              <a:rPr sz="1400" b="0">
                <a:solidFill>
                  <a:srgbClr val="9CB396"/>
                </a:solidFill>
                <a:latin typeface="Consolas"/>
              </a:rPr>
              <a:t>    # short-circuit fallback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OPERATORS · 3 OF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>
                <a:solidFill>
                  <a:srgbClr val="FFFFFF"/>
                </a:solidFill>
                <a:latin typeface="Montserrat Bold"/>
              </a:rPr>
              <a:t>Assignment, membership &amp; identity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566928"/>
          </a:xfrm>
          <a:prstGeom prst="roundRect">
            <a:avLst/>
          </a:prstGeom>
          <a:solidFill>
            <a:srgbClr val="102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9928" y="2926080"/>
            <a:ext cx="352592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8734" y="2926080"/>
            <a:ext cx="692566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79" y="2926080"/>
            <a:ext cx="4453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C772"/>
                </a:solidFill>
                <a:latin typeface="Montserrat Bold"/>
              </a:rPr>
              <a:t>Example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72768" y="3483483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09928" y="3493008"/>
            <a:ext cx="352592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8734" y="3493008"/>
            <a:ext cx="692566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=  +=  -=  *=  /=  //=  **=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79" y="3493008"/>
            <a:ext cx="4453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total +=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72768" y="4050411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09928" y="4059936"/>
            <a:ext cx="352592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Membership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8734" y="4059936"/>
            <a:ext cx="692566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in   ·   not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79" y="4059936"/>
            <a:ext cx="4453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"a" in "cat" → True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72768" y="4617339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9928" y="4626864"/>
            <a:ext cx="352592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Identity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8734" y="4626864"/>
            <a:ext cx="692566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is   ·   is not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79" y="4626864"/>
            <a:ext cx="44531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FDEC9"/>
                </a:solidFill>
                <a:latin typeface="Montserrat Semi-Bold"/>
              </a:rPr>
              <a:t>x is None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72768" y="5184267"/>
            <a:ext cx="15453359" cy="9525"/>
          </a:xfrm>
          <a:prstGeom prst="rect">
            <a:avLst/>
          </a:prstGeom>
          <a:solidFill>
            <a:srgbClr val="2C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72768" y="694944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Use '==' to compare VALUES, 'is' only for identity (mainly 'is None'). They are not the same!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CONTROL FLOW · 1 OF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FFFFFF"/>
                </a:solidFill>
                <a:latin typeface="Montserrat Bold"/>
              </a:rPr>
              <a:t>Conditionals — </a:t>
            </a:r>
            <a:r>
              <a:rPr sz="3400" b="0">
                <a:solidFill>
                  <a:srgbClr val="80C772"/>
                </a:solidFill>
                <a:latin typeface="Montserrat Bold"/>
              </a:rPr>
              <a:t>if / elif / 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743200"/>
            <a:ext cx="15453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FDEC9"/>
                </a:solidFill>
                <a:latin typeface="Montserrat Semi-Bold"/>
              </a:rPr>
              <a:t>Blocks are defined by </a:t>
            </a:r>
            <a:r>
              <a:rPr sz="1500" b="0">
                <a:solidFill>
                  <a:srgbClr val="80C772"/>
                </a:solidFill>
                <a:latin typeface="Montserrat Bold"/>
              </a:rPr>
              <a:t>indentation</a:t>
            </a:r>
            <a:r>
              <a:rPr sz="1500" b="0">
                <a:solidFill>
                  <a:srgbClr val="CFDEC9"/>
                </a:solidFill>
                <a:latin typeface="Montserrat Semi-Bold"/>
              </a:rPr>
              <a:t> (4 spaces) — there are no braces.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3474720"/>
            <a:ext cx="15453359" cy="402336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47088" y="360273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5376" y="3931920"/>
            <a:ext cx="14868143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def </a:t>
            </a:r>
            <a:r>
              <a:rPr sz="1450" b="0">
                <a:solidFill>
                  <a:srgbClr val="54B087"/>
                </a:solidFill>
                <a:latin typeface="Consolas"/>
              </a:rPr>
              <a:t>phase_for</a:t>
            </a:r>
            <a:r>
              <a:rPr sz="1450" b="0">
                <a:solidFill>
                  <a:srgbClr val="FFFFFF"/>
                </a:solidFill>
                <a:latin typeface="Consolas"/>
              </a:rPr>
              <a:t>(day):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if </a:t>
            </a:r>
            <a:r>
              <a:rPr sz="1450" b="0">
                <a:solidFill>
                  <a:srgbClr val="FFFFFF"/>
                </a:solidFill>
                <a:latin typeface="Consolas"/>
              </a:rPr>
              <a:t>day &lt;= </a:t>
            </a:r>
            <a:r>
              <a:rPr sz="1450" b="0">
                <a:solidFill>
                  <a:srgbClr val="54B087"/>
                </a:solidFill>
                <a:latin typeface="Consolas"/>
              </a:rPr>
              <a:t>3</a:t>
            </a:r>
            <a:r>
              <a:rPr sz="1450" b="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    return </a:t>
            </a:r>
            <a:r>
              <a:rPr sz="1450" b="0">
                <a:solidFill>
                  <a:srgbClr val="C2B833"/>
                </a:solidFill>
                <a:latin typeface="Consolas"/>
              </a:rPr>
              <a:t>"Foundations"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elif </a:t>
            </a:r>
            <a:r>
              <a:rPr sz="1450" b="0">
                <a:solidFill>
                  <a:srgbClr val="FFFFFF"/>
                </a:solidFill>
                <a:latin typeface="Consolas"/>
              </a:rPr>
              <a:t>day &lt;= </a:t>
            </a:r>
            <a:r>
              <a:rPr sz="1450" b="0">
                <a:solidFill>
                  <a:srgbClr val="54B087"/>
                </a:solidFill>
                <a:latin typeface="Consolas"/>
              </a:rPr>
              <a:t>7</a:t>
            </a:r>
            <a:r>
              <a:rPr sz="1450" b="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    return </a:t>
            </a:r>
            <a:r>
              <a:rPr sz="1450" b="0">
                <a:solidFill>
                  <a:srgbClr val="C2B833"/>
                </a:solidFill>
                <a:latin typeface="Consolas"/>
              </a:rPr>
              <a:t>"How LLMs Work"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else</a:t>
            </a:r>
            <a:r>
              <a:rPr sz="1450" b="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    return </a:t>
            </a:r>
            <a:r>
              <a:rPr sz="1450" b="0">
                <a:solidFill>
                  <a:srgbClr val="C2B833"/>
                </a:solidFill>
                <a:latin typeface="Consolas"/>
              </a:rPr>
              <a:t>"Advanced"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status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C2B833"/>
                </a:solidFill>
                <a:latin typeface="Consolas"/>
              </a:rPr>
              <a:t>"pass" </a:t>
            </a:r>
            <a:r>
              <a:rPr sz="1450" b="0">
                <a:solidFill>
                  <a:srgbClr val="80C772"/>
                </a:solidFill>
                <a:latin typeface="Consolas"/>
              </a:rPr>
              <a:t>if </a:t>
            </a:r>
            <a:r>
              <a:rPr sz="1450" b="0">
                <a:solidFill>
                  <a:srgbClr val="FFFFFF"/>
                </a:solidFill>
                <a:latin typeface="Consolas"/>
              </a:rPr>
              <a:t>score &gt;= </a:t>
            </a:r>
            <a:r>
              <a:rPr sz="1450" b="0">
                <a:solidFill>
                  <a:srgbClr val="54B087"/>
                </a:solidFill>
                <a:latin typeface="Consolas"/>
              </a:rPr>
              <a:t>60 </a:t>
            </a:r>
            <a:r>
              <a:rPr sz="1450" b="0">
                <a:solidFill>
                  <a:srgbClr val="80C772"/>
                </a:solidFill>
                <a:latin typeface="Consolas"/>
              </a:rPr>
              <a:t>else </a:t>
            </a:r>
            <a:r>
              <a:rPr sz="1450" b="0">
                <a:solidFill>
                  <a:srgbClr val="C2B833"/>
                </a:solidFill>
                <a:latin typeface="Consolas"/>
              </a:rPr>
              <a:t>"fail"</a:t>
            </a:r>
            <a:r>
              <a:rPr sz="1450" b="0">
                <a:solidFill>
                  <a:srgbClr val="9CB396"/>
                </a:solidFill>
                <a:latin typeface="Consolas"/>
              </a:rPr>
              <a:t>   # ternary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CONTROL FLOW · 2 OF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Montserrat Bold"/>
              </a:rPr>
              <a:t>Loops — </a:t>
            </a:r>
            <a:r>
              <a:rPr sz="3800" b="0">
                <a:solidFill>
                  <a:srgbClr val="80C772"/>
                </a:solidFill>
                <a:latin typeface="Montserrat Bold"/>
              </a:rPr>
              <a:t>for &amp; range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384048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for </a:t>
            </a:r>
            <a:r>
              <a:rPr sz="1450" b="0">
                <a:solidFill>
                  <a:srgbClr val="FFFFFF"/>
                </a:solidFill>
                <a:latin typeface="Consolas"/>
              </a:rPr>
              <a:t>day </a:t>
            </a:r>
            <a:r>
              <a:rPr sz="1450" b="0">
                <a:solidFill>
                  <a:srgbClr val="80C772"/>
                </a:solidFill>
                <a:latin typeface="Consolas"/>
              </a:rPr>
              <a:t>in </a:t>
            </a:r>
            <a:r>
              <a:rPr sz="1450" b="0">
                <a:solidFill>
                  <a:srgbClr val="80C772"/>
                </a:solidFill>
                <a:latin typeface="Consolas"/>
              </a:rPr>
              <a:t>range</a:t>
            </a:r>
            <a:r>
              <a:rPr sz="1450" b="0">
                <a:solidFill>
                  <a:srgbClr val="FFFFFF"/>
                </a:solidFill>
                <a:latin typeface="Consolas"/>
              </a:rPr>
              <a:t>(</a:t>
            </a:r>
            <a:r>
              <a:rPr sz="1450" b="0">
                <a:solidFill>
                  <a:srgbClr val="54B087"/>
                </a:solidFill>
                <a:latin typeface="Consolas"/>
              </a:rPr>
              <a:t>1</a:t>
            </a:r>
            <a:r>
              <a:rPr sz="1450" b="0">
                <a:solidFill>
                  <a:srgbClr val="FFFFFF"/>
                </a:solidFill>
                <a:latin typeface="Consolas"/>
              </a:rPr>
              <a:t>, </a:t>
            </a:r>
            <a:r>
              <a:rPr sz="1450" b="0">
                <a:solidFill>
                  <a:srgbClr val="54B087"/>
                </a:solidFill>
                <a:latin typeface="Consolas"/>
              </a:rPr>
              <a:t>46</a:t>
            </a:r>
            <a:r>
              <a:rPr sz="1450" b="0">
                <a:solidFill>
                  <a:srgbClr val="FFFFFF"/>
                </a:solidFill>
                <a:latin typeface="Consolas"/>
              </a:rPr>
              <a:t>):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# 1..45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    print(day, phase_for(day))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for </a:t>
            </a:r>
            <a:r>
              <a:rPr sz="1450" b="0">
                <a:solidFill>
                  <a:srgbClr val="FFFFFF"/>
                </a:solidFill>
                <a:latin typeface="Consolas"/>
              </a:rPr>
              <a:t>i, topic </a:t>
            </a:r>
            <a:r>
              <a:rPr sz="1450" b="0">
                <a:solidFill>
                  <a:srgbClr val="80C772"/>
                </a:solidFill>
                <a:latin typeface="Consolas"/>
              </a:rPr>
              <a:t>in </a:t>
            </a:r>
            <a:r>
              <a:rPr sz="1450" b="0">
                <a:solidFill>
                  <a:srgbClr val="80C772"/>
                </a:solidFill>
                <a:latin typeface="Consolas"/>
              </a:rPr>
              <a:t>enumerate</a:t>
            </a:r>
            <a:r>
              <a:rPr sz="1450" b="0">
                <a:solidFill>
                  <a:srgbClr val="FFFFFF"/>
                </a:solidFill>
                <a:latin typeface="Consolas"/>
              </a:rPr>
              <a:t>(topics):</a:t>
            </a:r>
            <a:r>
              <a:rPr sz="1450" b="0">
                <a:solidFill>
                  <a:srgbClr val="9CB396"/>
                </a:solidFill>
                <a:latin typeface="Consolas"/>
              </a:rPr>
              <a:t>   # index + value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for </a:t>
            </a:r>
            <a:r>
              <a:rPr sz="1450" b="0">
                <a:solidFill>
                  <a:srgbClr val="FFFFFF"/>
                </a:solidFill>
                <a:latin typeface="Consolas"/>
              </a:rPr>
              <a:t>k, v </a:t>
            </a:r>
            <a:r>
              <a:rPr sz="1450" b="0">
                <a:solidFill>
                  <a:srgbClr val="80C772"/>
                </a:solidFill>
                <a:latin typeface="Consolas"/>
              </a:rPr>
              <a:t>in </a:t>
            </a:r>
            <a:r>
              <a:rPr sz="1450" b="0">
                <a:solidFill>
                  <a:srgbClr val="FFFFFF"/>
                </a:solidFill>
                <a:latin typeface="Consolas"/>
              </a:rPr>
              <a:t>student.items():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# dict pairs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for </a:t>
            </a:r>
            <a:r>
              <a:rPr sz="1450" b="0">
                <a:solidFill>
                  <a:srgbClr val="FFFFFF"/>
                </a:solidFill>
                <a:latin typeface="Consolas"/>
              </a:rPr>
              <a:t>a, b </a:t>
            </a:r>
            <a:r>
              <a:rPr sz="1450" b="0">
                <a:solidFill>
                  <a:srgbClr val="80C772"/>
                </a:solidFill>
                <a:latin typeface="Consolas"/>
              </a:rPr>
              <a:t>in </a:t>
            </a:r>
            <a:r>
              <a:rPr sz="1450" b="0">
                <a:solidFill>
                  <a:srgbClr val="80C772"/>
                </a:solidFill>
                <a:latin typeface="Consolas"/>
              </a:rPr>
              <a:t>zip</a:t>
            </a:r>
            <a:r>
              <a:rPr sz="1450" b="0">
                <a:solidFill>
                  <a:srgbClr val="FFFFFF"/>
                </a:solidFill>
                <a:latin typeface="Consolas"/>
              </a:rPr>
              <a:t>(names, scores):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# parallel iterate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704088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range(start, stop, step) is lazy — it generates numbers on demand, never a full list in memory.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CONTROL FLOW · 3 OF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FFFFFF"/>
                </a:solidFill>
                <a:latin typeface="Montserrat Bold"/>
              </a:rPr>
              <a:t>Loops — </a:t>
            </a:r>
            <a:r>
              <a:rPr sz="3400" b="0">
                <a:solidFill>
                  <a:srgbClr val="80C772"/>
                </a:solidFill>
                <a:latin typeface="Montserrat Bold"/>
              </a:rPr>
              <a:t>while · break · continue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402336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day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while </a:t>
            </a:r>
            <a:r>
              <a:rPr sz="1450" b="0">
                <a:solidFill>
                  <a:srgbClr val="54B087"/>
                </a:solidFill>
                <a:latin typeface="Consolas"/>
              </a:rPr>
              <a:t>True</a:t>
            </a:r>
            <a:r>
              <a:rPr sz="1450" b="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    day += </a:t>
            </a:r>
            <a:r>
              <a:rPr sz="1450" b="0">
                <a:solidFill>
                  <a:srgbClr val="54B087"/>
                </a:solidFill>
                <a:latin typeface="Consolas"/>
              </a:rPr>
              <a:t>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if </a:t>
            </a:r>
            <a:r>
              <a:rPr sz="1450" b="0">
                <a:solidFill>
                  <a:srgbClr val="FFFFFF"/>
                </a:solidFill>
                <a:latin typeface="Consolas"/>
              </a:rPr>
              <a:t>day % </a:t>
            </a:r>
            <a:r>
              <a:rPr sz="1450" b="0">
                <a:solidFill>
                  <a:srgbClr val="54B087"/>
                </a:solidFill>
                <a:latin typeface="Consolas"/>
              </a:rPr>
              <a:t>2 </a:t>
            </a:r>
            <a:r>
              <a:rPr sz="1450" b="0">
                <a:solidFill>
                  <a:srgbClr val="80C772"/>
                </a:solidFill>
                <a:latin typeface="Consolas"/>
              </a:rPr>
              <a:t>== </a:t>
            </a:r>
            <a:r>
              <a:rPr sz="1450" b="0">
                <a:solidFill>
                  <a:srgbClr val="54B087"/>
                </a:solidFill>
                <a:latin typeface="Consolas"/>
              </a:rPr>
              <a:t>0</a:t>
            </a:r>
            <a:r>
              <a:rPr sz="1450" b="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    continue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# skip the rest, next loop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if </a:t>
            </a:r>
            <a:r>
              <a:rPr sz="1450" b="0">
                <a:solidFill>
                  <a:srgbClr val="FFFFFF"/>
                </a:solidFill>
                <a:latin typeface="Consolas"/>
              </a:rPr>
              <a:t>day &gt; </a:t>
            </a:r>
            <a:r>
              <a:rPr sz="1450" b="0">
                <a:solidFill>
                  <a:srgbClr val="54B087"/>
                </a:solidFill>
                <a:latin typeface="Consolas"/>
              </a:rPr>
              <a:t>7</a:t>
            </a:r>
            <a:r>
              <a:rPr sz="1450" b="0">
                <a:solidFill>
                  <a:srgbClr val="FFFFFF"/>
                </a:solidFill>
                <a:latin typeface="Consolas"/>
              </a:rPr>
              <a:t>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        break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 # exit the loop entirely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    print(</a:t>
            </a:r>
            <a:r>
              <a:rPr sz="1450" b="0">
                <a:solidFill>
                  <a:srgbClr val="C2B833"/>
                </a:solidFill>
                <a:latin typeface="Consolas"/>
              </a:rPr>
              <a:t>"odd study day"</a:t>
            </a:r>
            <a:r>
              <a:rPr sz="1450" b="0">
                <a:solidFill>
                  <a:srgbClr val="FFFFFF"/>
                </a:solidFill>
                <a:latin typeface="Consolas"/>
              </a:rPr>
              <a:t>, day)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722376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for/while can have an else: that runs only if the loop finished WITHOUT a break.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DATA STRUCTURES ·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>
                <a:solidFill>
                  <a:srgbClr val="FFFFFF"/>
                </a:solidFill>
                <a:latin typeface="Montserrat Bold"/>
              </a:rPr>
              <a:t>Lists — </a:t>
            </a:r>
            <a:r>
              <a:rPr sz="3600" b="0">
                <a:solidFill>
                  <a:srgbClr val="80C772"/>
                </a:solidFill>
                <a:latin typeface="Montserrat Bold"/>
              </a:rPr>
              <a:t>ordered, mutable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347472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topics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FFFFFF"/>
                </a:solidFill>
                <a:latin typeface="Consolas"/>
              </a:rPr>
              <a:t>[</a:t>
            </a:r>
            <a:r>
              <a:rPr sz="1400" b="0">
                <a:solidFill>
                  <a:srgbClr val="C2B833"/>
                </a:solidFill>
                <a:latin typeface="Consolas"/>
              </a:rPr>
              <a:t>"setup"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>
                <a:solidFill>
                  <a:srgbClr val="C2B833"/>
                </a:solidFill>
                <a:latin typeface="Consolas"/>
              </a:rPr>
              <a:t>"vars"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>
                <a:solidFill>
                  <a:srgbClr val="C2B833"/>
                </a:solidFill>
                <a:latin typeface="Consolas"/>
              </a:rPr>
              <a:t>"loops"</a:t>
            </a:r>
            <a:r>
              <a:rPr sz="1400" b="0">
                <a:solidFill>
                  <a:srgbClr val="FFFFFF"/>
                </a:solidFill>
                <a:latin typeface="Consolas"/>
              </a:rPr>
              <a:t>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topics.append(</a:t>
            </a:r>
            <a:r>
              <a:rPr sz="1400" b="0">
                <a:solidFill>
                  <a:srgbClr val="C2B833"/>
                </a:solidFill>
                <a:latin typeface="Consolas"/>
              </a:rPr>
              <a:t>"dicts"</a:t>
            </a:r>
            <a:r>
              <a:rPr sz="1400" b="0">
                <a:solidFill>
                  <a:srgbClr val="FFFFFF"/>
                </a:solidFill>
                <a:latin typeface="Consolas"/>
              </a:rPr>
              <a:t>)        </a:t>
            </a:r>
            <a:r>
              <a:rPr sz="1400" b="0">
                <a:solidFill>
                  <a:srgbClr val="9CB396"/>
                </a:solidFill>
                <a:latin typeface="Consolas"/>
              </a:rPr>
              <a:t># add to end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topics.insert(</a:t>
            </a:r>
            <a:r>
              <a:rPr sz="1400" b="0">
                <a:solidFill>
                  <a:srgbClr val="54B087"/>
                </a:solidFill>
                <a:latin typeface="Consolas"/>
              </a:rPr>
              <a:t>0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>
                <a:solidFill>
                  <a:srgbClr val="C2B833"/>
                </a:solidFill>
                <a:latin typeface="Consolas"/>
              </a:rPr>
              <a:t>"intro"</a:t>
            </a:r>
            <a:r>
              <a:rPr sz="1400" b="0">
                <a:solidFill>
                  <a:srgbClr val="FFFFFF"/>
                </a:solidFill>
                <a:latin typeface="Consolas"/>
              </a:rPr>
              <a:t>)     </a:t>
            </a:r>
            <a:r>
              <a:rPr sz="1400" b="0">
                <a:solidFill>
                  <a:srgbClr val="9CB396"/>
                </a:solidFill>
                <a:latin typeface="Consolas"/>
              </a:rPr>
              <a:t># add at index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topics[</a:t>
            </a:r>
            <a:r>
              <a:rPr sz="1400" b="0">
                <a:solidFill>
                  <a:srgbClr val="54B087"/>
                </a:solidFill>
                <a:latin typeface="Consolas"/>
              </a:rPr>
              <a:t>0</a:t>
            </a:r>
            <a:r>
              <a:rPr sz="1400" b="0">
                <a:solidFill>
                  <a:srgbClr val="FFFFFF"/>
                </a:solidFill>
                <a:latin typeface="Consolas"/>
              </a:rPr>
              <a:t>]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C2B833"/>
                </a:solidFill>
                <a:latin typeface="Consolas"/>
              </a:rPr>
              <a:t>"env"</a:t>
            </a:r>
            <a:r>
              <a:rPr sz="1400" b="0">
                <a:solidFill>
                  <a:srgbClr val="FFFFFF"/>
                </a:solidFill>
                <a:latin typeface="Consolas"/>
              </a:rPr>
              <a:t>           </a:t>
            </a:r>
            <a:r>
              <a:rPr sz="1400" b="0">
                <a:solidFill>
                  <a:srgbClr val="9CB396"/>
                </a:solidFill>
                <a:latin typeface="Consolas"/>
              </a:rPr>
              <a:t># update in place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topics.pop(), topics.remove(</a:t>
            </a:r>
            <a:r>
              <a:rPr sz="1400" b="0">
                <a:solidFill>
                  <a:srgbClr val="C2B833"/>
                </a:solidFill>
                <a:latin typeface="Consolas"/>
              </a:rPr>
              <a:t>"loops"</a:t>
            </a:r>
            <a:r>
              <a:rPr sz="1400" b="0">
                <a:solidFill>
                  <a:srgbClr val="FFFFFF"/>
                </a:solidFill>
                <a:latin typeface="Consolas"/>
              </a:rPr>
              <a:t>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topics[</a:t>
            </a:r>
            <a:r>
              <a:rPr sz="1400" b="0">
                <a:solidFill>
                  <a:srgbClr val="54B087"/>
                </a:solidFill>
                <a:latin typeface="Consolas"/>
              </a:rPr>
              <a:t>1</a:t>
            </a:r>
            <a:r>
              <a:rPr sz="1400" b="0">
                <a:solidFill>
                  <a:srgbClr val="FFFFFF"/>
                </a:solidFill>
                <a:latin typeface="Consolas"/>
              </a:rPr>
              <a:t>:</a:t>
            </a:r>
            <a:r>
              <a:rPr sz="1400" b="0">
                <a:solidFill>
                  <a:srgbClr val="54B087"/>
                </a:solidFill>
                <a:latin typeface="Consolas"/>
              </a:rPr>
              <a:t>3</a:t>
            </a:r>
            <a:r>
              <a:rPr sz="1400" b="0">
                <a:solidFill>
                  <a:srgbClr val="FFFFFF"/>
                </a:solidFill>
                <a:latin typeface="Consolas"/>
              </a:rPr>
              <a:t>], len(topics), sorted(topics)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685800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Lists hold mixed types and grow/shrink freely — the default container you reach for.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DATA STRUCTURES · COMPREHENSIONS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Montserrat Bold"/>
              </a:rPr>
              <a:t>List comprehensions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743200"/>
            <a:ext cx="15453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FDEC9"/>
                </a:solidFill>
                <a:latin typeface="Montserrat Semi-Bold"/>
              </a:rPr>
              <a:t>Build a new list in one line:  </a:t>
            </a:r>
            <a:r>
              <a:rPr sz="1500" b="0">
                <a:solidFill>
                  <a:srgbClr val="80C772"/>
                </a:solidFill>
                <a:latin typeface="Consolas"/>
              </a:rPr>
              <a:t>[ expr for item in iterable if condition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3566160"/>
            <a:ext cx="15453359" cy="329184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47088" y="369417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5376" y="4023360"/>
            <a:ext cx="1486814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squares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FFFFFF"/>
                </a:solidFill>
                <a:latin typeface="Consolas"/>
              </a:rPr>
              <a:t>[n</a:t>
            </a:r>
            <a:r>
              <a:rPr sz="1400" b="0">
                <a:solidFill>
                  <a:srgbClr val="80C772"/>
                </a:solidFill>
                <a:latin typeface="Consolas"/>
              </a:rPr>
              <a:t>**</a:t>
            </a:r>
            <a:r>
              <a:rPr sz="1400" b="0">
                <a:solidFill>
                  <a:srgbClr val="54B087"/>
                </a:solidFill>
                <a:latin typeface="Consolas"/>
              </a:rPr>
              <a:t>2 </a:t>
            </a:r>
            <a:r>
              <a:rPr sz="1400" b="0">
                <a:solidFill>
                  <a:srgbClr val="80C772"/>
                </a:solidFill>
                <a:latin typeface="Consolas"/>
              </a:rPr>
              <a:t>for </a:t>
            </a:r>
            <a:r>
              <a:rPr sz="1400" b="0">
                <a:solidFill>
                  <a:srgbClr val="FFFFFF"/>
                </a:solidFill>
                <a:latin typeface="Consolas"/>
              </a:rPr>
              <a:t>n </a:t>
            </a:r>
            <a:r>
              <a:rPr sz="1400" b="0">
                <a:solidFill>
                  <a:srgbClr val="80C772"/>
                </a:solidFill>
                <a:latin typeface="Consolas"/>
              </a:rPr>
              <a:t>in </a:t>
            </a:r>
            <a:r>
              <a:rPr sz="1400" b="0">
                <a:solidFill>
                  <a:srgbClr val="80C772"/>
                </a:solidFill>
                <a:latin typeface="Consolas"/>
              </a:rPr>
              <a:t>range</a:t>
            </a:r>
            <a:r>
              <a:rPr sz="1400" b="0">
                <a:solidFill>
                  <a:srgbClr val="FFFFFF"/>
                </a:solidFill>
                <a:latin typeface="Consolas"/>
              </a:rPr>
              <a:t>(</a:t>
            </a:r>
            <a:r>
              <a:rPr sz="1400" b="0">
                <a:solidFill>
                  <a:srgbClr val="54B087"/>
                </a:solidFill>
                <a:latin typeface="Consolas"/>
              </a:rPr>
              <a:t>10</a:t>
            </a:r>
            <a:r>
              <a:rPr sz="1400" b="0">
                <a:solidFill>
                  <a:srgbClr val="FFFFFF"/>
                </a:solidFill>
                <a:latin typeface="Consolas"/>
              </a:rPr>
              <a:t>)]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evens  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FFFFFF"/>
                </a:solidFill>
                <a:latin typeface="Consolas"/>
              </a:rPr>
              <a:t>[n </a:t>
            </a:r>
            <a:r>
              <a:rPr sz="1400" b="0">
                <a:solidFill>
                  <a:srgbClr val="80C772"/>
                </a:solidFill>
                <a:latin typeface="Consolas"/>
              </a:rPr>
              <a:t>for </a:t>
            </a:r>
            <a:r>
              <a:rPr sz="1400" b="0">
                <a:solidFill>
                  <a:srgbClr val="FFFFFF"/>
                </a:solidFill>
                <a:latin typeface="Consolas"/>
              </a:rPr>
              <a:t>n </a:t>
            </a:r>
            <a:r>
              <a:rPr sz="1400" b="0">
                <a:solidFill>
                  <a:srgbClr val="80C772"/>
                </a:solidFill>
                <a:latin typeface="Consolas"/>
              </a:rPr>
              <a:t>in </a:t>
            </a:r>
            <a:r>
              <a:rPr sz="1400" b="0">
                <a:solidFill>
                  <a:srgbClr val="FFFFFF"/>
                </a:solidFill>
                <a:latin typeface="Consolas"/>
              </a:rPr>
              <a:t>nums </a:t>
            </a:r>
            <a:r>
              <a:rPr sz="1400" b="0">
                <a:solidFill>
                  <a:srgbClr val="80C772"/>
                </a:solidFill>
                <a:latin typeface="Consolas"/>
              </a:rPr>
              <a:t>if </a:t>
            </a:r>
            <a:r>
              <a:rPr sz="1400" b="0">
                <a:solidFill>
                  <a:srgbClr val="FFFFFF"/>
                </a:solidFill>
                <a:latin typeface="Consolas"/>
              </a:rPr>
              <a:t>n % </a:t>
            </a:r>
            <a:r>
              <a:rPr sz="1400" b="0">
                <a:solidFill>
                  <a:srgbClr val="54B087"/>
                </a:solidFill>
                <a:latin typeface="Consolas"/>
              </a:rPr>
              <a:t>2 </a:t>
            </a:r>
            <a:r>
              <a:rPr sz="1400" b="0">
                <a:solidFill>
                  <a:srgbClr val="80C772"/>
                </a:solidFill>
                <a:latin typeface="Consolas"/>
              </a:rPr>
              <a:t>== </a:t>
            </a:r>
            <a:r>
              <a:rPr sz="1400" b="0">
                <a:solidFill>
                  <a:srgbClr val="54B087"/>
                </a:solidFill>
                <a:latin typeface="Consolas"/>
              </a:rPr>
              <a:t>0</a:t>
            </a:r>
            <a:r>
              <a:rPr sz="1400" b="0">
                <a:solidFill>
                  <a:srgbClr val="FFFFFF"/>
                </a:solidFill>
                <a:latin typeface="Consolas"/>
              </a:rPr>
              <a:t>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labels 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FFFFFF"/>
                </a:solidFill>
                <a:latin typeface="Consolas"/>
              </a:rPr>
              <a:t>[t.upper() </a:t>
            </a:r>
            <a:r>
              <a:rPr sz="1400" b="0">
                <a:solidFill>
                  <a:srgbClr val="80C772"/>
                </a:solidFill>
                <a:latin typeface="Consolas"/>
              </a:rPr>
              <a:t>for </a:t>
            </a:r>
            <a:r>
              <a:rPr sz="1400" b="0">
                <a:solidFill>
                  <a:srgbClr val="FFFFFF"/>
                </a:solidFill>
                <a:latin typeface="Consolas"/>
              </a:rPr>
              <a:t>t </a:t>
            </a:r>
            <a:r>
              <a:rPr sz="1400" b="0">
                <a:solidFill>
                  <a:srgbClr val="80C772"/>
                </a:solidFill>
                <a:latin typeface="Consolas"/>
              </a:rPr>
              <a:t>in </a:t>
            </a:r>
            <a:r>
              <a:rPr sz="1400" b="0">
                <a:solidFill>
                  <a:srgbClr val="FFFFFF"/>
                </a:solidFill>
                <a:latin typeface="Consolas"/>
              </a:rPr>
              <a:t>topics]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9CB396"/>
                </a:solidFill>
                <a:latin typeface="Consolas"/>
              </a:rPr>
              <a:t># also: dict &amp; set comprehensions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{w: </a:t>
            </a:r>
            <a:r>
              <a:rPr sz="1400" b="0">
                <a:solidFill>
                  <a:srgbClr val="80C772"/>
                </a:solidFill>
                <a:latin typeface="Consolas"/>
              </a:rPr>
              <a:t>len</a:t>
            </a:r>
            <a:r>
              <a:rPr sz="1400" b="0">
                <a:solidFill>
                  <a:srgbClr val="FFFFFF"/>
                </a:solidFill>
                <a:latin typeface="Consolas"/>
              </a:rPr>
              <a:t>(w) </a:t>
            </a:r>
            <a:r>
              <a:rPr sz="1400" b="0">
                <a:solidFill>
                  <a:srgbClr val="80C772"/>
                </a:solidFill>
                <a:latin typeface="Consolas"/>
              </a:rPr>
              <a:t>for </a:t>
            </a:r>
            <a:r>
              <a:rPr sz="1400" b="0">
                <a:solidFill>
                  <a:srgbClr val="FFFFFF"/>
                </a:solidFill>
                <a:latin typeface="Consolas"/>
              </a:rPr>
              <a:t>w </a:t>
            </a:r>
            <a:r>
              <a:rPr sz="1400" b="0">
                <a:solidFill>
                  <a:srgbClr val="80C772"/>
                </a:solidFill>
                <a:latin typeface="Consolas"/>
              </a:rPr>
              <a:t>in </a:t>
            </a:r>
            <a:r>
              <a:rPr sz="1400" b="0">
                <a:solidFill>
                  <a:srgbClr val="FFFFFF"/>
                </a:solidFill>
                <a:latin typeface="Consolas"/>
              </a:rPr>
              <a:t>topics}</a:t>
            </a:r>
            <a:r>
              <a:rPr sz="1400" b="0">
                <a:solidFill>
                  <a:srgbClr val="9CB396"/>
                </a:solidFill>
                <a:latin typeface="Consolas"/>
              </a:rPr>
              <a:t>   # 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713232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Comprehensions are faster and clearer than building a list with an empty list + append loop.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DATA STRUCTURES · TUPLE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>
                <a:solidFill>
                  <a:srgbClr val="FFFFFF"/>
                </a:solidFill>
                <a:latin typeface="Montserrat Bold"/>
              </a:rPr>
              <a:t>Tuples — </a:t>
            </a:r>
            <a:r>
              <a:rPr sz="3600" b="0">
                <a:solidFill>
                  <a:srgbClr val="80C772"/>
                </a:solidFill>
                <a:latin typeface="Montserrat Bold"/>
              </a:rPr>
              <a:t>ordered, immutable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310896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point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FFFFFF"/>
                </a:solidFill>
                <a:latin typeface="Consolas"/>
              </a:rPr>
              <a:t>(</a:t>
            </a:r>
            <a:r>
              <a:rPr sz="1450" b="0">
                <a:solidFill>
                  <a:srgbClr val="54B087"/>
                </a:solidFill>
                <a:latin typeface="Consolas"/>
              </a:rPr>
              <a:t>10</a:t>
            </a:r>
            <a:r>
              <a:rPr sz="1450" b="0">
                <a:solidFill>
                  <a:srgbClr val="FFFFFF"/>
                </a:solidFill>
                <a:latin typeface="Consolas"/>
              </a:rPr>
              <a:t>, </a:t>
            </a:r>
            <a:r>
              <a:rPr sz="1450" b="0">
                <a:solidFill>
                  <a:srgbClr val="54B087"/>
                </a:solidFill>
                <a:latin typeface="Consolas"/>
              </a:rPr>
              <a:t>20</a:t>
            </a:r>
            <a:r>
              <a:rPr sz="1450" b="0">
                <a:solidFill>
                  <a:srgbClr val="FFFFFF"/>
                </a:solidFill>
                <a:latin typeface="Consolas"/>
              </a:rPr>
              <a:t>)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# fixed pair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x, y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FFFFFF"/>
                </a:solidFill>
                <a:latin typeface="Consolas"/>
              </a:rPr>
              <a:t>point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  # unpacking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rgb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255</a:t>
            </a:r>
            <a:r>
              <a:rPr sz="1450" b="0">
                <a:solidFill>
                  <a:srgbClr val="FFFFFF"/>
                </a:solidFill>
                <a:latin typeface="Consolas"/>
              </a:rPr>
              <a:t>, </a:t>
            </a:r>
            <a:r>
              <a:rPr sz="1450" b="0">
                <a:solidFill>
                  <a:srgbClr val="54B087"/>
                </a:solidFill>
                <a:latin typeface="Consolas"/>
              </a:rPr>
              <a:t>128</a:t>
            </a:r>
            <a:r>
              <a:rPr sz="1450" b="0">
                <a:solidFill>
                  <a:srgbClr val="FFFFFF"/>
                </a:solidFill>
                <a:latin typeface="Consolas"/>
              </a:rPr>
              <a:t>, </a:t>
            </a:r>
            <a:r>
              <a:rPr sz="1450" b="0">
                <a:solidFill>
                  <a:srgbClr val="54B087"/>
                </a:solidFill>
                <a:latin typeface="Consolas"/>
              </a:rPr>
              <a:t>0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# parens optional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point[</a:t>
            </a:r>
            <a:r>
              <a:rPr sz="1450" b="0">
                <a:solidFill>
                  <a:srgbClr val="54B087"/>
                </a:solidFill>
                <a:latin typeface="Consolas"/>
              </a:rPr>
              <a:t>0</a:t>
            </a:r>
            <a:r>
              <a:rPr sz="1450" b="0">
                <a:solidFill>
                  <a:srgbClr val="FFFFFF"/>
                </a:solidFill>
                <a:latin typeface="Consolas"/>
              </a:rPr>
              <a:t>]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54B087"/>
                </a:solidFill>
                <a:latin typeface="Consolas"/>
              </a:rPr>
              <a:t>5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  # ❌ TypeError — immutable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6126480"/>
            <a:ext cx="1545335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Use a tuple when data </a:t>
            </a:r>
            <a:r>
              <a:rPr sz="1500" b="0">
                <a:solidFill>
                  <a:srgbClr val="80C772"/>
                </a:solidFill>
                <a:latin typeface="Montserrat Bold"/>
              </a:rPr>
              <a:t>shouldn't change</a:t>
            </a:r>
            <a:r>
              <a:rPr sz="1500" b="0">
                <a:solidFill>
                  <a:srgbClr val="FFFFFF"/>
                </a:solidFill>
                <a:latin typeface="Montserrat Semi-Bold"/>
              </a:rPr>
              <a:t> — coordinates, RGB, DB rows, dict keys.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DATA STRUCTURES ·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>
                <a:solidFill>
                  <a:srgbClr val="FFFFFF"/>
                </a:solidFill>
                <a:latin typeface="Montserrat Bold"/>
              </a:rPr>
              <a:t>Sets — </a:t>
            </a:r>
            <a:r>
              <a:rPr sz="3600" b="0">
                <a:solidFill>
                  <a:srgbClr val="80C772"/>
                </a:solidFill>
                <a:latin typeface="Montserrat Bold"/>
              </a:rPr>
              <a:t>unique, unordered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292608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tools </a:t>
            </a:r>
            <a:r>
              <a:rPr sz="1450" b="0">
                <a:solidFill>
                  <a:srgbClr val="80C772"/>
                </a:solidFill>
                <a:latin typeface="Consolas"/>
              </a:rPr>
              <a:t>= </a:t>
            </a:r>
            <a:r>
              <a:rPr sz="1450" b="0">
                <a:solidFill>
                  <a:srgbClr val="FFFFFF"/>
                </a:solidFill>
                <a:latin typeface="Consolas"/>
              </a:rPr>
              <a:t>{</a:t>
            </a:r>
            <a:r>
              <a:rPr sz="1450" b="0">
                <a:solidFill>
                  <a:srgbClr val="C2B833"/>
                </a:solidFill>
                <a:latin typeface="Consolas"/>
              </a:rPr>
              <a:t>"uv"</a:t>
            </a:r>
            <a:r>
              <a:rPr sz="1450" b="0">
                <a:solidFill>
                  <a:srgbClr val="FFFFFF"/>
                </a:solidFill>
                <a:latin typeface="Consolas"/>
              </a:rPr>
              <a:t>, </a:t>
            </a:r>
            <a:r>
              <a:rPr sz="1450" b="0">
                <a:solidFill>
                  <a:srgbClr val="C2B833"/>
                </a:solidFill>
                <a:latin typeface="Consolas"/>
              </a:rPr>
              <a:t>"conda"</a:t>
            </a:r>
            <a:r>
              <a:rPr sz="1450" b="0">
                <a:solidFill>
                  <a:srgbClr val="FFFFFF"/>
                </a:solidFill>
                <a:latin typeface="Consolas"/>
              </a:rPr>
              <a:t>, </a:t>
            </a:r>
            <a:r>
              <a:rPr sz="1450" b="0">
                <a:solidFill>
                  <a:srgbClr val="C2B833"/>
                </a:solidFill>
                <a:latin typeface="Consolas"/>
              </a:rPr>
              <a:t>"uv"</a:t>
            </a:r>
            <a:r>
              <a:rPr sz="1450" b="0">
                <a:solidFill>
                  <a:srgbClr val="FFFFFF"/>
                </a:solidFill>
                <a:latin typeface="Consolas"/>
              </a:rPr>
              <a:t>}</a:t>
            </a:r>
            <a:r>
              <a:rPr sz="1450" b="0">
                <a:solidFill>
                  <a:srgbClr val="9CB396"/>
                </a:solidFill>
                <a:latin typeface="Consolas"/>
              </a:rPr>
              <a:t>   # -&gt; {'uv', 'conda'}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C2B833"/>
                </a:solidFill>
                <a:latin typeface="Consolas"/>
              </a:rPr>
              <a:t>"uv" </a:t>
            </a:r>
            <a:r>
              <a:rPr sz="1450" b="0">
                <a:solidFill>
                  <a:srgbClr val="80C772"/>
                </a:solidFill>
                <a:latin typeface="Consolas"/>
              </a:rPr>
              <a:t>in </a:t>
            </a:r>
            <a:r>
              <a:rPr sz="1450" b="0">
                <a:solidFill>
                  <a:srgbClr val="FFFFFF"/>
                </a:solidFill>
                <a:latin typeface="Consolas"/>
              </a:rPr>
              <a:t>tools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     # fast membership test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80C772"/>
                </a:solidFill>
                <a:latin typeface="Consolas"/>
              </a:rPr>
              <a:t>set(</a:t>
            </a:r>
            <a:r>
              <a:rPr sz="1450" b="0">
                <a:solidFill>
                  <a:srgbClr val="FFFFFF"/>
                </a:solidFill>
                <a:latin typeface="Consolas"/>
              </a:rPr>
              <a:t>[</a:t>
            </a:r>
            <a:r>
              <a:rPr sz="1450" b="0">
                <a:solidFill>
                  <a:srgbClr val="54B087"/>
                </a:solidFill>
                <a:latin typeface="Consolas"/>
              </a:rPr>
              <a:t>1</a:t>
            </a:r>
            <a:r>
              <a:rPr sz="1450" b="0">
                <a:solidFill>
                  <a:srgbClr val="FFFFFF"/>
                </a:solidFill>
                <a:latin typeface="Consolas"/>
              </a:rPr>
              <a:t>,</a:t>
            </a:r>
            <a:r>
              <a:rPr sz="1450" b="0">
                <a:solidFill>
                  <a:srgbClr val="54B087"/>
                </a:solidFill>
                <a:latin typeface="Consolas"/>
              </a:rPr>
              <a:t>1</a:t>
            </a:r>
            <a:r>
              <a:rPr sz="1450" b="0">
                <a:solidFill>
                  <a:srgbClr val="FFFFFF"/>
                </a:solidFill>
                <a:latin typeface="Consolas"/>
              </a:rPr>
              <a:t>,</a:t>
            </a:r>
            <a:r>
              <a:rPr sz="1450" b="0">
                <a:solidFill>
                  <a:srgbClr val="54B087"/>
                </a:solidFill>
                <a:latin typeface="Consolas"/>
              </a:rPr>
              <a:t>2</a:t>
            </a:r>
            <a:r>
              <a:rPr sz="1450" b="0">
                <a:solidFill>
                  <a:srgbClr val="FFFFFF"/>
                </a:solidFill>
                <a:latin typeface="Consolas"/>
              </a:rPr>
              <a:t>,</a:t>
            </a:r>
            <a:r>
              <a:rPr sz="1450" b="0">
                <a:solidFill>
                  <a:srgbClr val="54B087"/>
                </a:solidFill>
                <a:latin typeface="Consolas"/>
              </a:rPr>
              <a:t>3</a:t>
            </a:r>
            <a:r>
              <a:rPr sz="1450" b="0">
                <a:solidFill>
                  <a:srgbClr val="FFFFFF"/>
                </a:solidFill>
                <a:latin typeface="Consolas"/>
              </a:rPr>
              <a:t>])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       # de-duplicate a list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Consolas"/>
              </a:rPr>
              <a:t>a | b   a &amp; b   a - b</a:t>
            </a:r>
            <a:r>
              <a:rPr sz="1450" b="0">
                <a:solidFill>
                  <a:srgbClr val="9CB396"/>
                </a:solidFill>
                <a:latin typeface="Consolas"/>
              </a:rPr>
              <a:t>       # union, intersect, difference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640080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Reach for a set to remove duplicates or test membership across thousands of items instantly.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DATA STRUCTURES · 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>
                <a:solidFill>
                  <a:srgbClr val="FFFFFF"/>
                </a:solidFill>
                <a:latin typeface="Montserrat Bold"/>
              </a:rPr>
              <a:t>Dictionaries — </a:t>
            </a:r>
            <a:r>
              <a:rPr sz="3400" b="0">
                <a:solidFill>
                  <a:srgbClr val="80C772"/>
                </a:solidFill>
                <a:latin typeface="Montserrat Bold"/>
              </a:rPr>
              <a:t>key →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72768" y="2926080"/>
            <a:ext cx="15453359" cy="3657600"/>
          </a:xfrm>
          <a:prstGeom prst="roundRect">
            <a:avLst/>
          </a:prstGeom>
          <a:solidFill>
            <a:srgbClr val="051207"/>
          </a:solidFill>
          <a:ln w="15875">
            <a:solidFill>
              <a:srgbClr val="2C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054096"/>
            <a:ext cx="14904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CB396"/>
                </a:solidFill>
                <a:latin typeface="Consola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383280"/>
            <a:ext cx="1486814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student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FFFFFF"/>
                </a:solidFill>
                <a:latin typeface="Consolas"/>
              </a:rPr>
              <a:t>{</a:t>
            </a:r>
            <a:r>
              <a:rPr sz="1400" b="0">
                <a:solidFill>
                  <a:srgbClr val="C2B833"/>
                </a:solidFill>
                <a:latin typeface="Consolas"/>
              </a:rPr>
              <a:t>"name"</a:t>
            </a:r>
            <a:r>
              <a:rPr sz="1400" b="0">
                <a:solidFill>
                  <a:srgbClr val="FFFFFF"/>
                </a:solidFill>
                <a:latin typeface="Consolas"/>
              </a:rPr>
              <a:t>: </a:t>
            </a:r>
            <a:r>
              <a:rPr sz="1400" b="0">
                <a:solidFill>
                  <a:srgbClr val="C2B833"/>
                </a:solidFill>
                <a:latin typeface="Consolas"/>
              </a:rPr>
              <a:t>"Ada"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>
                <a:solidFill>
                  <a:srgbClr val="C2B833"/>
                </a:solidFill>
                <a:latin typeface="Consolas"/>
              </a:rPr>
              <a:t>"scores"</a:t>
            </a:r>
            <a:r>
              <a:rPr sz="1400" b="0">
                <a:solidFill>
                  <a:srgbClr val="FFFFFF"/>
                </a:solidFill>
                <a:latin typeface="Consolas"/>
              </a:rPr>
              <a:t>: [</a:t>
            </a:r>
            <a:r>
              <a:rPr sz="1400" b="0">
                <a:solidFill>
                  <a:srgbClr val="54B087"/>
                </a:solidFill>
                <a:latin typeface="Consolas"/>
              </a:rPr>
              <a:t>82</a:t>
            </a:r>
            <a:r>
              <a:rPr sz="1400" b="0">
                <a:solidFill>
                  <a:srgbClr val="FFFFFF"/>
                </a:solidFill>
                <a:latin typeface="Consolas"/>
              </a:rPr>
              <a:t>,</a:t>
            </a:r>
            <a:r>
              <a:rPr sz="1400" b="0">
                <a:solidFill>
                  <a:srgbClr val="54B087"/>
                </a:solidFill>
                <a:latin typeface="Consolas"/>
              </a:rPr>
              <a:t>91</a:t>
            </a:r>
            <a:r>
              <a:rPr sz="1400" b="0">
                <a:solidFill>
                  <a:srgbClr val="FFFFFF"/>
                </a:solidFill>
                <a:latin typeface="Consolas"/>
              </a:rPr>
              <a:t>]}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student[</a:t>
            </a:r>
            <a:r>
              <a:rPr sz="1400" b="0">
                <a:solidFill>
                  <a:srgbClr val="C2B833"/>
                </a:solidFill>
                <a:latin typeface="Consolas"/>
              </a:rPr>
              <a:t>"name"</a:t>
            </a:r>
            <a:r>
              <a:rPr sz="1400" b="0">
                <a:solidFill>
                  <a:srgbClr val="FFFFFF"/>
                </a:solidFill>
                <a:latin typeface="Consolas"/>
              </a:rPr>
              <a:t>]                </a:t>
            </a:r>
            <a:r>
              <a:rPr sz="1400" b="0">
                <a:solidFill>
                  <a:srgbClr val="9CB396"/>
                </a:solidFill>
                <a:latin typeface="Consolas"/>
              </a:rPr>
              <a:t># 'Ada'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student.get(</a:t>
            </a:r>
            <a:r>
              <a:rPr sz="1400" b="0">
                <a:solidFill>
                  <a:srgbClr val="C2B833"/>
                </a:solidFill>
                <a:latin typeface="Consolas"/>
              </a:rPr>
              <a:t>"email"</a:t>
            </a:r>
            <a:r>
              <a:rPr sz="1400" b="0">
                <a:solidFill>
                  <a:srgbClr val="FFFFFF"/>
                </a:solidFill>
                <a:latin typeface="Consolas"/>
              </a:rPr>
              <a:t>, </a:t>
            </a:r>
            <a:r>
              <a:rPr sz="1400" b="0">
                <a:solidFill>
                  <a:srgbClr val="C2B833"/>
                </a:solidFill>
                <a:latin typeface="Consolas"/>
              </a:rPr>
              <a:t>"n/a"</a:t>
            </a:r>
            <a:r>
              <a:rPr sz="1400" b="0">
                <a:solidFill>
                  <a:srgbClr val="FFFFFF"/>
                </a:solidFill>
                <a:latin typeface="Consolas"/>
              </a:rPr>
              <a:t>)     </a:t>
            </a:r>
            <a:r>
              <a:rPr sz="1400" b="0">
                <a:solidFill>
                  <a:srgbClr val="9CB396"/>
                </a:solidFill>
                <a:latin typeface="Consolas"/>
              </a:rPr>
              <a:t># safe lookup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student[</a:t>
            </a:r>
            <a:r>
              <a:rPr sz="1400" b="0">
                <a:solidFill>
                  <a:srgbClr val="C2B833"/>
                </a:solidFill>
                <a:latin typeface="Consolas"/>
              </a:rPr>
              <a:t>"city"</a:t>
            </a:r>
            <a:r>
              <a:rPr sz="1400" b="0">
                <a:solidFill>
                  <a:srgbClr val="FFFFFF"/>
                </a:solidFill>
                <a:latin typeface="Consolas"/>
              </a:rPr>
              <a:t>] </a:t>
            </a:r>
            <a:r>
              <a:rPr sz="1400" b="0">
                <a:solidFill>
                  <a:srgbClr val="80C772"/>
                </a:solidFill>
                <a:latin typeface="Consolas"/>
              </a:rPr>
              <a:t>= </a:t>
            </a:r>
            <a:r>
              <a:rPr sz="1400" b="0">
                <a:solidFill>
                  <a:srgbClr val="C2B833"/>
                </a:solidFill>
                <a:latin typeface="Consolas"/>
              </a:rPr>
              <a:t>"Lagos"</a:t>
            </a:r>
            <a:r>
              <a:rPr sz="1400" b="0">
                <a:solidFill>
                  <a:srgbClr val="FFFFFF"/>
                </a:solidFill>
                <a:latin typeface="Consolas"/>
              </a:rPr>
              <a:t>       </a:t>
            </a:r>
            <a:r>
              <a:rPr sz="1400" b="0">
                <a:solidFill>
                  <a:srgbClr val="9CB396"/>
                </a:solidFill>
                <a:latin typeface="Consolas"/>
              </a:rPr>
              <a:t># add / update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80C772"/>
                </a:solidFill>
                <a:latin typeface="Consolas"/>
              </a:rPr>
              <a:t>for </a:t>
            </a:r>
            <a:r>
              <a:rPr sz="1400" b="0">
                <a:solidFill>
                  <a:srgbClr val="FFFFFF"/>
                </a:solidFill>
                <a:latin typeface="Consolas"/>
              </a:rPr>
              <a:t>k, v </a:t>
            </a:r>
            <a:r>
              <a:rPr sz="1400" b="0">
                <a:solidFill>
                  <a:srgbClr val="80C772"/>
                </a:solidFill>
                <a:latin typeface="Consolas"/>
              </a:rPr>
              <a:t>in </a:t>
            </a:r>
            <a:r>
              <a:rPr sz="1400" b="0">
                <a:solidFill>
                  <a:srgbClr val="FFFFFF"/>
                </a:solidFill>
                <a:latin typeface="Consolas"/>
              </a:rPr>
              <a:t>student.items():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    print(k, 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694944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Dicts are the backbone of Python — JSON, API responses and config all map straight to dicts.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🔨 TODAY'S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Montserrat Bold"/>
              </a:rPr>
              <a:t>Data-manipulation exercises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743200"/>
            <a:ext cx="15453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FDEC9"/>
                </a:solidFill>
                <a:latin typeface="Montserrat Semi-Bold"/>
              </a:rPr>
              <a:t>Open the notebook and work through it with us — then finish the challenge cells on your 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566160"/>
            <a:ext cx="1545335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700" b="0">
                <a:solidFill>
                  <a:srgbClr val="FFFFFF"/>
                </a:solidFill>
                <a:latin typeface="Montserrat Semi-Bold"/>
              </a:rPr>
              <a:t>Clean a list of messy student records (strip, capitalize).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700" b="0">
                <a:solidFill>
                  <a:srgbClr val="FFFFFF"/>
                </a:solidFill>
                <a:latin typeface="Montserrat Semi-Bold"/>
              </a:rPr>
              <a:t>Add a computed average to each record.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700" b="0">
                <a:solidFill>
                  <a:srgbClr val="FFFFFF"/>
                </a:solidFill>
                <a:latin typeface="Montserrat Semi-Bold"/>
              </a:rPr>
              <a:t>De-duplicate cities with a </a:t>
            </a:r>
            <a:r>
              <a:rPr sz="1700" b="0">
                <a:solidFill>
                  <a:srgbClr val="80C772"/>
                </a:solidFill>
                <a:latin typeface="Montserrat Bold"/>
              </a:rPr>
              <a:t>set</a:t>
            </a:r>
            <a:r>
              <a:rPr sz="1700" b="0">
                <a:solidFill>
                  <a:srgbClr val="FFFFFF"/>
                </a:solidFill>
                <a:latin typeface="Montserrat Semi-Bold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700" b="0">
                <a:solidFill>
                  <a:srgbClr val="FFFFFF"/>
                </a:solidFill>
                <a:latin typeface="Montserrat Semi-Bold"/>
              </a:rPr>
              <a:t>Find top performers with a </a:t>
            </a:r>
            <a:r>
              <a:rPr sz="1700" b="0">
                <a:solidFill>
                  <a:srgbClr val="80C772"/>
                </a:solidFill>
                <a:latin typeface="Montserrat Bold"/>
              </a:rPr>
              <a:t>comprehension</a:t>
            </a:r>
            <a:r>
              <a:rPr sz="1700" b="0">
                <a:solidFill>
                  <a:srgbClr val="FFFFFF"/>
                </a:solidFill>
                <a:latin typeface="Montserrat Semi-Bold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700" b="0">
                <a:solidFill>
                  <a:srgbClr val="FFFFFF"/>
                </a:solidFill>
                <a:latin typeface="Montserrat Semi-Bold"/>
              </a:rPr>
              <a:t>Group students by city into a </a:t>
            </a:r>
            <a:r>
              <a:rPr sz="1700" b="0">
                <a:solidFill>
                  <a:srgbClr val="80C772"/>
                </a:solidFill>
                <a:latin typeface="Montserrat Bold"/>
              </a:rPr>
              <a:t>dict</a:t>
            </a:r>
            <a:r>
              <a:rPr sz="1700" b="0">
                <a:solidFill>
                  <a:srgbClr val="FFFFFF"/>
                </a:solidFill>
                <a:latin typeface="Montserrat Semi-Bold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700" b="0">
                <a:solidFill>
                  <a:srgbClr val="C2B833"/>
                </a:solidFill>
                <a:latin typeface="Montserrat Bold"/>
              </a:rPr>
              <a:t>Stretch: </a:t>
            </a:r>
            <a:r>
              <a:rPr sz="1700" b="0">
                <a:solidFill>
                  <a:srgbClr val="FFFFFF"/>
                </a:solidFill>
                <a:latin typeface="Montserrat Semi-Bold"/>
              </a:rPr>
              <a:t>count days per phase from the syllabus.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7955279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File:  notebooks/Day01_Python_Core_and_Environments.ipynb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24071" y="8661715"/>
            <a:ext cx="4590485" cy="667707"/>
          </a:xfrm>
          <a:custGeom>
            <a:avLst/>
            <a:gdLst/>
            <a:ahLst/>
            <a:cxnLst/>
            <a:rect r="r" b="b" t="t" l="l"/>
            <a:pathLst>
              <a:path h="667707" w="4590485">
                <a:moveTo>
                  <a:pt x="0" y="0"/>
                </a:moveTo>
                <a:lnTo>
                  <a:pt x="4590486" y="0"/>
                </a:lnTo>
                <a:lnTo>
                  <a:pt x="4590486" y="667707"/>
                </a:lnTo>
                <a:lnTo>
                  <a:pt x="0" y="667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21868" y="3159207"/>
            <a:ext cx="2301136" cy="23011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2B833">
                    <a:alpha val="0"/>
                  </a:srgbClr>
                </a:gs>
                <a:gs pos="100000">
                  <a:srgbClr val="0266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sp>
        <p:nvSpPr>
          <p:cNvPr name="TextBox 14" id="14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DAY 01  ·  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78992"/>
            <a:ext cx="15453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C772"/>
                </a:solidFill>
                <a:latin typeface="Consolas"/>
              </a:rPr>
              <a:t>—  RECAP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627632"/>
            <a:ext cx="154533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>
                <a:solidFill>
                  <a:srgbClr val="FFFFFF"/>
                </a:solidFill>
                <a:latin typeface="Montserrat Bold"/>
              </a:rPr>
              <a:t>What you can do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108960"/>
            <a:ext cx="1545335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800" b="0">
                <a:solidFill>
                  <a:srgbClr val="FFFFFF"/>
                </a:solidFill>
                <a:latin typeface="Montserrat Semi-Bold"/>
              </a:rPr>
              <a:t>Create isolated environments with </a:t>
            </a:r>
            <a:r>
              <a:rPr sz="1800" b="0">
                <a:solidFill>
                  <a:srgbClr val="80C772"/>
                </a:solidFill>
                <a:latin typeface="Montserrat Bold"/>
              </a:rPr>
              <a:t>Conda / UV</a:t>
            </a:r>
            <a:r>
              <a:rPr sz="1800" b="0">
                <a:solidFill>
                  <a:srgbClr val="FFFFFF"/>
                </a:solidFill>
                <a:latin typeface="Montserrat Semi-Bold"/>
              </a:rPr>
              <a:t> + VS Code.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800" b="0">
                <a:solidFill>
                  <a:srgbClr val="FFFFFF"/>
                </a:solidFill>
                <a:latin typeface="Montserrat Semi-Bold"/>
              </a:rPr>
              <a:t>Use every core </a:t>
            </a:r>
            <a:r>
              <a:rPr sz="1800" b="0">
                <a:solidFill>
                  <a:srgbClr val="80C772"/>
                </a:solidFill>
                <a:latin typeface="Montserrat Bold"/>
              </a:rPr>
              <a:t>datatype</a:t>
            </a:r>
            <a:r>
              <a:rPr sz="1800" b="0">
                <a:solidFill>
                  <a:srgbClr val="FFFFFF"/>
                </a:solidFill>
                <a:latin typeface="Montserrat Semi-Bold"/>
              </a:rPr>
              <a:t> and </a:t>
            </a:r>
            <a:r>
              <a:rPr sz="1800" b="0">
                <a:solidFill>
                  <a:srgbClr val="80C772"/>
                </a:solidFill>
                <a:latin typeface="Montserrat Bold"/>
              </a:rPr>
              <a:t>operator</a:t>
            </a:r>
            <a:r>
              <a:rPr sz="1800" b="0">
                <a:solidFill>
                  <a:srgbClr val="FFFFFF"/>
                </a:solidFill>
                <a:latin typeface="Montserrat Semi-Bold"/>
              </a:rPr>
              <a:t> with confidence.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800" b="0">
                <a:solidFill>
                  <a:srgbClr val="FFFFFF"/>
                </a:solidFill>
                <a:latin typeface="Montserrat Semi-Bold"/>
              </a:rPr>
              <a:t>Direct program flow with </a:t>
            </a:r>
            <a:r>
              <a:rPr sz="1800" b="0">
                <a:solidFill>
                  <a:srgbClr val="80C772"/>
                </a:solidFill>
                <a:latin typeface="Montserrat Bold"/>
              </a:rPr>
              <a:t>conditionals and loops</a:t>
            </a:r>
            <a:r>
              <a:rPr sz="1800" b="0">
                <a:solidFill>
                  <a:srgbClr val="FFFFFF"/>
                </a:solidFill>
                <a:latin typeface="Montserrat Semi-Bold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80C772"/>
                </a:solidFill>
                <a:latin typeface="Montserrat Bold"/>
              </a:rPr>
              <a:t>▹  </a:t>
            </a:r>
            <a:r>
              <a:rPr sz="1800" b="0">
                <a:solidFill>
                  <a:srgbClr val="FFFFFF"/>
                </a:solidFill>
                <a:latin typeface="Montserrat Semi-Bold"/>
              </a:rPr>
              <a:t>Pick the right </a:t>
            </a:r>
            <a:r>
              <a:rPr sz="1800" b="0">
                <a:solidFill>
                  <a:srgbClr val="80C772"/>
                </a:solidFill>
                <a:latin typeface="Montserrat Bold"/>
              </a:rPr>
              <a:t>data structure</a:t>
            </a:r>
            <a:r>
              <a:rPr sz="1800" b="0">
                <a:solidFill>
                  <a:srgbClr val="FFFFFF"/>
                </a:solidFill>
                <a:latin typeface="Montserrat Semi-Bold"/>
              </a:rPr>
              <a:t> and write comprehensions.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7315200"/>
            <a:ext cx="15453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2B833"/>
                </a:solidFill>
                <a:latin typeface="Montserrat Bold"/>
              </a:rPr>
              <a:t>◆  </a:t>
            </a:r>
            <a:r>
              <a:rPr sz="1400" b="0">
                <a:solidFill>
                  <a:srgbClr val="CFDEC9"/>
                </a:solidFill>
                <a:latin typeface="Montserrat Semi-Bold"/>
              </a:rPr>
              <a:t>Homework: finish the notebook challenges and push it to your GitHub repo.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14370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95781" y="839590"/>
            <a:ext cx="18771125" cy="444274"/>
            <a:chOff x="0" y="0"/>
            <a:chExt cx="4943835" cy="117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3835" cy="117010"/>
            </a:xfrm>
            <a:custGeom>
              <a:avLst/>
              <a:gdLst/>
              <a:ahLst/>
              <a:cxnLst/>
              <a:rect r="r" b="b" t="t" l="l"/>
              <a:pathLst>
                <a:path h="117010" w="4943835">
                  <a:moveTo>
                    <a:pt x="0" y="0"/>
                  </a:moveTo>
                  <a:lnTo>
                    <a:pt x="4943835" y="0"/>
                  </a:lnTo>
                  <a:lnTo>
                    <a:pt x="4943835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54B087">
                    <a:alpha val="0"/>
                  </a:srgbClr>
                </a:gs>
                <a:gs pos="50000">
                  <a:srgbClr val="304D0A">
                    <a:alpha val="100000"/>
                  </a:srgbClr>
                </a:gs>
                <a:gs pos="100000">
                  <a:srgbClr val="54B087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3835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05322" y="800375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64929" y="409821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53373" y="2251718"/>
            <a:ext cx="981253" cy="888480"/>
          </a:xfrm>
          <a:custGeom>
            <a:avLst/>
            <a:gdLst/>
            <a:ahLst/>
            <a:cxnLst/>
            <a:rect r="r" b="b" t="t" l="l"/>
            <a:pathLst>
              <a:path h="888480" w="981253">
                <a:moveTo>
                  <a:pt x="0" y="0"/>
                </a:moveTo>
                <a:lnTo>
                  <a:pt x="981254" y="0"/>
                </a:lnTo>
                <a:lnTo>
                  <a:pt x="981254" y="888480"/>
                </a:lnTo>
                <a:lnTo>
                  <a:pt x="0" y="888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1454" y="839590"/>
            <a:ext cx="490664" cy="444274"/>
          </a:xfrm>
          <a:custGeom>
            <a:avLst/>
            <a:gdLst/>
            <a:ahLst/>
            <a:cxnLst/>
            <a:rect r="r" b="b" t="t" l="l"/>
            <a:pathLst>
              <a:path h="444274" w="490664">
                <a:moveTo>
                  <a:pt x="0" y="0"/>
                </a:moveTo>
                <a:lnTo>
                  <a:pt x="490664" y="0"/>
                </a:lnTo>
                <a:lnTo>
                  <a:pt x="490664" y="444274"/>
                </a:lnTo>
                <a:lnTo>
                  <a:pt x="0" y="444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35345" y="3527470"/>
            <a:ext cx="7617309" cy="134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44"/>
              </a:lnSpc>
            </a:pPr>
            <a:r>
              <a:rPr lang="en-US" b="true" sz="10355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Let's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7193" y="4674645"/>
            <a:ext cx="11293614" cy="165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35"/>
              </a:lnSpc>
            </a:pPr>
            <a:r>
              <a:rPr lang="en-US" b="true" sz="12716">
                <a:solidFill>
                  <a:srgbClr val="80C7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4000" y="6659843"/>
            <a:ext cx="7900001" cy="34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b="true" sz="2697" spc="2157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NEXT — DAY 02 · PYTHON OOP &amp; ADVANCED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22618" y="970410"/>
            <a:ext cx="1743797" cy="2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582" b="true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TARS LAB ACADEMY</a:t>
            </a:r>
          </a:p>
        </p:txBody>
      </p:sp>
      <p:grpSp>
        <p:nvGrpSpPr>
          <p:cNvPr name="Group 13" id="13"/>
          <p:cNvGrpSpPr/>
          <p:nvPr/>
        </p:nvGrpSpPr>
        <p:grpSpPr>
          <a:xfrm rot="-5400000">
            <a:off x="16589159" y="8439578"/>
            <a:ext cx="2272060" cy="444274"/>
            <a:chOff x="0" y="0"/>
            <a:chExt cx="598403" cy="1170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8403" cy="117010"/>
            </a:xfrm>
            <a:custGeom>
              <a:avLst/>
              <a:gdLst/>
              <a:ahLst/>
              <a:cxnLst/>
              <a:rect r="r" b="b" t="t" l="l"/>
              <a:pathLst>
                <a:path h="117010" w="598403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true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5282084">
            <a:off x="16787560" y="8582387"/>
            <a:ext cx="1846679" cy="15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3"/>
              </a:lnSpc>
            </a:pPr>
            <a:r>
              <a:rPr lang="en-US" b="true" sz="1261" spc="1008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SEE YOU 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DAHNOcS6d2c</dc:identifier>
  <dcterms:modified xsi:type="dcterms:W3CDTF">2011-08-01T06:04:30Z</dcterms:modified>
  <cp:revision>1</cp:revision>
  <dc:title>Green Modern Futuristic Artificial Intelligence Presentation</dc:title>
</cp:coreProperties>
</file>